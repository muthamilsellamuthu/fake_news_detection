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58" r:id="rId4"/>
    <p:sldId id="262" r:id="rId5"/>
    <p:sldId id="273" r:id="rId6"/>
    <p:sldId id="274" r:id="rId7"/>
    <p:sldId id="275" r:id="rId8"/>
    <p:sldId id="276" r:id="rId9"/>
    <p:sldId id="277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9" r:id="rId19"/>
    <p:sldId id="279" r:id="rId20"/>
    <p:sldId id="272" r:id="rId21"/>
  </p:sldIdLst>
  <p:sldSz cx="12192000" cy="6858000"/>
  <p:notesSz cx="12192000" cy="6858000"/>
  <p:embeddedFontLst>
    <p:embeddedFont>
      <p:font typeface="Lustria" panose="020B0604020202020204" charset="0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fsMWlVJXIHjAYrzNEkkhYjkPX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 snapToGrid="0">
      <p:cViewPr varScale="1">
        <p:scale>
          <a:sx n="83" d="100"/>
          <a:sy n="83" d="100"/>
        </p:scale>
        <p:origin x="667" y="6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9" name="Google Shape;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0E6EC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body" idx="1"/>
          </p:nvPr>
        </p:nvSpPr>
        <p:spPr>
          <a:xfrm>
            <a:off x="1253767" y="2609333"/>
            <a:ext cx="9684465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D2FE666-B443-47C3-90A0-DB81DE385505}" type="datetime1">
              <a:rPr lang="en-US" smtClean="0"/>
              <a:t>10/8/2026</a:t>
            </a:fld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0E6EC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C786530-0DEB-4AD5-9C05-FA78E1802E93}" type="datetime1">
              <a:rPr lang="en-US" smtClean="0"/>
              <a:t>10/8/2026</a:t>
            </a:fld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A9B7C61-AB4F-4E70-BA2C-AB6D0469CDD1}" type="datetime1">
              <a:rPr lang="en-US" smtClean="0"/>
              <a:t>10/8/2026</a:t>
            </a:fld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898BA48-C4BE-49C6-AF3F-97B5F244A32C}" type="datetime1">
              <a:rPr lang="en-US" smtClean="0"/>
              <a:t>10/8/2026</a:t>
            </a:fld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0E6EC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83255F-E621-46B9-9CBC-F25A9907172D}" type="datetime1">
              <a:rPr lang="en-US" smtClean="0"/>
              <a:t>10/8/2026</a:t>
            </a:fld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0"/>
            <a:ext cx="12191975" cy="685798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E6EC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body" idx="1"/>
          </p:nvPr>
        </p:nvSpPr>
        <p:spPr>
          <a:xfrm>
            <a:off x="1253767" y="2609333"/>
            <a:ext cx="9684465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C74C6FC1-AF74-4A54-B022-FF4C21A15813}" type="datetime1">
              <a:rPr lang="en-US" smtClean="0"/>
              <a:t>10/8/2026</a:t>
            </a:fld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/>
          <p:nvPr/>
        </p:nvSpPr>
        <p:spPr>
          <a:xfrm>
            <a:off x="0" y="-1157468"/>
            <a:ext cx="12192000" cy="802668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9" name="Google Shape;49;p1"/>
          <p:cNvSpPr txBox="1">
            <a:spLocks noGrp="1"/>
          </p:cNvSpPr>
          <p:nvPr>
            <p:ph type="title"/>
          </p:nvPr>
        </p:nvSpPr>
        <p:spPr>
          <a:xfrm>
            <a:off x="2644878" y="2075705"/>
            <a:ext cx="9360310" cy="1859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8255" marR="5080" lvl="0" indent="-1266190"/>
            <a:r>
              <a:rPr lang="en-US" sz="3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TITLE :  </a:t>
            </a:r>
            <a:r>
              <a:rPr lang="en-US" sz="3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3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Multilingual Fake News Detection using Contrastive learning and Fact Verification for low resource Languages</a:t>
            </a:r>
            <a:endParaRPr sz="30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0" name="Google Shape;50;p1"/>
          <p:cNvGrpSpPr/>
          <p:nvPr/>
        </p:nvGrpSpPr>
        <p:grpSpPr>
          <a:xfrm>
            <a:off x="240388" y="514260"/>
            <a:ext cx="1819586" cy="5686607"/>
            <a:chOff x="63499" y="63499"/>
            <a:chExt cx="1838321" cy="5953113"/>
          </a:xfrm>
        </p:grpSpPr>
        <p:sp>
          <p:nvSpPr>
            <p:cNvPr id="51" name="Google Shape;51;p1"/>
            <p:cNvSpPr/>
            <p:nvPr/>
          </p:nvSpPr>
          <p:spPr>
            <a:xfrm>
              <a:off x="63499" y="63499"/>
              <a:ext cx="1585909" cy="131762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265111" y="4222741"/>
              <a:ext cx="1636709" cy="179387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53" name="Google Shape;53;p1"/>
          <p:cNvSpPr txBox="1"/>
          <p:nvPr/>
        </p:nvSpPr>
        <p:spPr>
          <a:xfrm>
            <a:off x="8315869" y="4767996"/>
            <a:ext cx="3436186" cy="167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KAVIN RITHIK S – 23CDR071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MUTHAMIL S - 23CDR104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NIRANJANA Y -23CDR11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659047" y="1044013"/>
            <a:ext cx="549148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Design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500284" y="274081"/>
            <a:ext cx="6402068" cy="100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KONGU ENGINEERING COLLEGE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1" i="0" u="none" strike="noStrike" cap="none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321"/>
              </a:buClr>
              <a:buSzPts val="1200"/>
              <a:buFont typeface="Times New Roman"/>
              <a:buNone/>
            </a:pPr>
            <a:r>
              <a:rPr lang="en-US" sz="1200" b="1" i="0" u="none" strike="noStrike" cap="none" dirty="0">
                <a:solidFill>
                  <a:srgbClr val="5463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PERUNDURAI ERODE-638060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3559040" y="1373043"/>
            <a:ext cx="742372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22CDP7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PROJECT WORK II PHASE 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Date Placeholder 1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7118641-BF5E-4B2F-9E81-316F1C9CB3B6}" type="datetime1">
              <a:rPr lang="en-US" smtClean="0"/>
              <a:t>10/8/2026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874501" y="4098814"/>
            <a:ext cx="2167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   01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09398" y="4767996"/>
            <a:ext cx="31804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lvl="0">
              <a:buSzPts val="2000"/>
            </a:pPr>
            <a:r>
              <a:rPr lang="en-US" sz="18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</a:t>
            </a:r>
            <a:r>
              <a:rPr lang="en-US" sz="18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12700" lvl="0">
              <a:buSzPts val="20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DR.R.THANGARAJAN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>
            <a:spLocks noGrp="1"/>
          </p:cNvSpPr>
          <p:nvPr>
            <p:ph type="title"/>
          </p:nvPr>
        </p:nvSpPr>
        <p:spPr>
          <a:xfrm>
            <a:off x="4770561" y="677475"/>
            <a:ext cx="32597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8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034D1FA-9D2B-43A1-99F7-E2E9E3C8612B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150375" y="1641669"/>
            <a:ext cx="1082531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spreads faster than it can be manually verified, and most detection research targets high-resource languages such as English.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is low-resource: in this project's corpus it accounts for 5,408 of 69,008 records, only 7.8% of the data.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bilingual Tamil-English corpus of 69,008 labelled news records has been built from four public sources.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XLM-RoBERTa represents both languages in one shared 768-dimensional space, so a single model handles Tamil and English.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contrastive learning links same-label articles across languages, allowing Tamil to learn from the larger English pool.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MLP classifier on these representations reaches 0.9763 macro-F1 on validation, with Tamil within 0.009 of English.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>
            <a:spLocks noGrp="1"/>
          </p:cNvSpPr>
          <p:nvPr>
            <p:ph type="title"/>
          </p:nvPr>
        </p:nvSpPr>
        <p:spPr>
          <a:xfrm>
            <a:off x="4969328" y="501956"/>
            <a:ext cx="225334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28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A6C685-191A-4F4C-8FB1-CE6F03E36E18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 flipH="1">
            <a:off x="1753123" y="1910443"/>
            <a:ext cx="9720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299049" y="1394024"/>
            <a:ext cx="106286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labelled Tamil-English fake news corpus with recorded source provenance and leakage-controlled splits.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represent both languages in one shared space using XLM-RoBERTa with mean pooling and L2 normalisation.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strengthen the representation using supervised contrastive learning, so the minority language benefits from the majority language.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each article as fake or real using an MLP classifier trained on the learned representation.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accuracy, precision, recall, macro-F1 and ROC-AUC, reported overall and separately for Tamil and English.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extend the framework with fact verification and explainability in the remaining modules.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/>
        </p:nvSpPr>
        <p:spPr>
          <a:xfrm>
            <a:off x="3917859" y="356419"/>
            <a:ext cx="41347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800" b="1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C9352CA-77FE-4F8B-B28C-C5206F1437C4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C93871-3EC9-F326-DCB3-B05369D59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775039"/>
              </p:ext>
            </p:extLst>
          </p:nvPr>
        </p:nvGraphicFramePr>
        <p:xfrm>
          <a:off x="1366684" y="879599"/>
          <a:ext cx="9792930" cy="545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83">
                  <a:extLst>
                    <a:ext uri="{9D8B030D-6E8A-4147-A177-3AD203B41FA5}">
                      <a16:colId xmlns:a16="http://schemas.microsoft.com/office/drawing/2014/main" val="256320066"/>
                    </a:ext>
                  </a:extLst>
                </a:gridCol>
                <a:gridCol w="3222589">
                  <a:extLst>
                    <a:ext uri="{9D8B030D-6E8A-4147-A177-3AD203B41FA5}">
                      <a16:colId xmlns:a16="http://schemas.microsoft.com/office/drawing/2014/main" val="762293683"/>
                    </a:ext>
                  </a:extLst>
                </a:gridCol>
                <a:gridCol w="1864196">
                  <a:extLst>
                    <a:ext uri="{9D8B030D-6E8A-4147-A177-3AD203B41FA5}">
                      <a16:colId xmlns:a16="http://schemas.microsoft.com/office/drawing/2014/main" val="2737682077"/>
                    </a:ext>
                  </a:extLst>
                </a:gridCol>
                <a:gridCol w="2052976">
                  <a:extLst>
                    <a:ext uri="{9D8B030D-6E8A-4147-A177-3AD203B41FA5}">
                      <a16:colId xmlns:a16="http://schemas.microsoft.com/office/drawing/2014/main" val="353085198"/>
                    </a:ext>
                  </a:extLst>
                </a:gridCol>
                <a:gridCol w="1958586">
                  <a:extLst>
                    <a:ext uri="{9D8B030D-6E8A-4147-A177-3AD203B41FA5}">
                      <a16:colId xmlns:a16="http://schemas.microsoft.com/office/drawing/2014/main" val="19836953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 OF THE PROJECT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AUTHOR/JOURNAL/YEAR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PROPOSED 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WORK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210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Explainable multi-granularity attribution reasoning framework for fake news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Wei Ji, Hongzhen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Lv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25 March 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EMAR-FND</a:t>
                      </a:r>
                    </a:p>
                    <a:p>
                      <a:r>
                        <a:rPr lang="en-IN" dirty="0"/>
                        <a:t>deep learning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Extend the model to support multiple languages.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506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 simple contrastive embedding framework for low-resource fake news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Iftitahu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Ni’mah</a:t>
                      </a:r>
                      <a:r>
                        <a:rPr lang="en-IN" dirty="0"/>
                        <a:t>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05 August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Contrast-BERT (Contrastive Learning) Stacking-based Ensemble Learning Ensemble of Multilayer </a:t>
                      </a:r>
                      <a:r>
                        <a:rPr lang="en-IN" dirty="0" err="1"/>
                        <a:t>Perceptrons</a:t>
                      </a:r>
                      <a:r>
                        <a:rPr lang="en-IN" dirty="0"/>
                        <a:t> (MLPs)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 multilingual support. Integrate images and videos (multimodal detection).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653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Multi-modal fake news detection: A comprehensive survey on deep learning technology, advances, and 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Li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Li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/ </a:t>
                      </a:r>
                    </a:p>
                    <a:p>
                      <a:r>
                        <a:rPr lang="en-IN" dirty="0"/>
                        <a:t>10 November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hybrid multimodal fusion models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Build better multimodal datasets. Improve cross-modal semantic understanding.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372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 semi supervised fake news detection model using the grasshopper optimization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Ali Ghaffari/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19 February 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Grasshopper Optimization Algorithm (GOA)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 explainable AI features.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206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Early detection of fake news by integrating global structure and publisher credibility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Yantuan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Xian/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22 August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Bidirectional Graph Convolutional Network (Bi-GCN)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Apply causal reasoning to identify manipulated news propagation patterns</a:t>
                      </a:r>
                      <a:r>
                        <a:rPr lang="en-IN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66192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EF73AF-F01E-FF6A-81B4-39C29F351E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A9B7C61-AB4F-4E70-BA2C-AB6D0469CDD1}" type="datetime1">
              <a:rPr lang="en-US" smtClean="0"/>
              <a:t>10/8/2026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B8BC9-453A-907F-C417-7CB63F5AC8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97771E-1635-F174-AF64-5A62D5092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881829"/>
              </p:ext>
            </p:extLst>
          </p:nvPr>
        </p:nvGraphicFramePr>
        <p:xfrm>
          <a:off x="1337188" y="719666"/>
          <a:ext cx="10176390" cy="588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782">
                  <a:extLst>
                    <a:ext uri="{9D8B030D-6E8A-4147-A177-3AD203B41FA5}">
                      <a16:colId xmlns:a16="http://schemas.microsoft.com/office/drawing/2014/main" val="2115659363"/>
                    </a:ext>
                  </a:extLst>
                </a:gridCol>
                <a:gridCol w="3364774">
                  <a:extLst>
                    <a:ext uri="{9D8B030D-6E8A-4147-A177-3AD203B41FA5}">
                      <a16:colId xmlns:a16="http://schemas.microsoft.com/office/drawing/2014/main" val="384389267"/>
                    </a:ext>
                  </a:extLst>
                </a:gridCol>
                <a:gridCol w="1887791">
                  <a:extLst>
                    <a:ext uri="{9D8B030D-6E8A-4147-A177-3AD203B41FA5}">
                      <a16:colId xmlns:a16="http://schemas.microsoft.com/office/drawing/2014/main" val="3682945820"/>
                    </a:ext>
                  </a:extLst>
                </a:gridCol>
                <a:gridCol w="2182765">
                  <a:extLst>
                    <a:ext uri="{9D8B030D-6E8A-4147-A177-3AD203B41FA5}">
                      <a16:colId xmlns:a16="http://schemas.microsoft.com/office/drawing/2014/main" val="2683758998"/>
                    </a:ext>
                  </a:extLst>
                </a:gridCol>
                <a:gridCol w="2035278">
                  <a:extLst>
                    <a:ext uri="{9D8B030D-6E8A-4147-A177-3AD203B41FA5}">
                      <a16:colId xmlns:a16="http://schemas.microsoft.com/office/drawing/2014/main" val="1563738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TITLE OF THE PROJECT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AUTHOR/JOURNAL/YEAR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PROPOSED MODEL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FUTURE WORK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474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BiLSTM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-LIME: integrating NLP and advanced machine learning models for fake news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Md. Jakir Hossen/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17 January 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BiLSTM</a:t>
                      </a:r>
                      <a:r>
                        <a:rPr lang="en-IN" dirty="0"/>
                        <a:t>-LIME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Improve detection for low-resource languages.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5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Fake news detection with GAN-augmented contrastive learning and multimodal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Cong Wu 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13 April 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Multi-layer joint attention for text-image fusion GAN-based adversarial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Improve generalization to unseen events.</a:t>
                      </a:r>
                    </a:p>
                    <a:p>
                      <a:r>
                        <a:rPr lang="en-IN" dirty="0"/>
                        <a:t>Add explainable AI features.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970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Multimodal based Amharic fake news detection using CNN and attention-based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BiLSTM</a:t>
                      </a:r>
                      <a:endParaRPr lang="en-IN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Alemu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Desu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Geto or Eshete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Derb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Emiru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02 October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CNN with Attention-based </a:t>
                      </a:r>
                      <a:r>
                        <a:rPr lang="en-IN" b="0" dirty="0" err="1"/>
                        <a:t>BiLSTM</a:t>
                      </a:r>
                      <a:r>
                        <a:rPr lang="en-IN" b="0" dirty="0"/>
                        <a:t> </a:t>
                      </a:r>
                      <a:r>
                        <a:rPr lang="en-IN" b="0" dirty="0" err="1"/>
                        <a:t>FastText</a:t>
                      </a:r>
                      <a:r>
                        <a:rPr lang="en-IN" b="0" dirty="0"/>
                        <a:t> embeddings for Amharic 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 image captioning. Expand and enrich datasets.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913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Hybrid optimization driven fake news detection using reinforced transformer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Koteswararao Ch 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28 April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Modified Transformer (mT5-based) with three-stage fine-tuning. PSODO </a:t>
                      </a:r>
                      <a:r>
                        <a:rPr lang="en-IN" dirty="0"/>
                        <a:t>(Particle Swarm Optimization + Dandelion Optimization) for model optimization.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Integrate explainable AI (SHAP/LIME).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654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Fusing non-textual cues with classical NLP for enhanced multimodal fake news spread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Jing Dang 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09 April 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Multi-Modal Deep Learning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 temporal </a:t>
                      </a:r>
                      <a:r>
                        <a:rPr lang="en-IN" dirty="0" err="1"/>
                        <a:t>modeling</a:t>
                      </a:r>
                      <a:r>
                        <a:rPr lang="en-IN" dirty="0"/>
                        <a:t> and explainable AI. Extend to image, video, and audio analysis.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502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705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437FB-D16C-A7E1-B11C-80BEE38F0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5D32DC-5024-C27D-76F1-CCA5C05E6D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A9B7C61-AB4F-4E70-BA2C-AB6D0469CDD1}" type="datetime1">
              <a:rPr lang="en-US" smtClean="0"/>
              <a:t>10/8/2026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A87167-B465-F250-C118-7C1C7359F9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6CBB17-E968-1A8E-89B4-73AE689DF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271358"/>
              </p:ext>
            </p:extLst>
          </p:nvPr>
        </p:nvGraphicFramePr>
        <p:xfrm>
          <a:off x="1415845" y="335280"/>
          <a:ext cx="10392697" cy="60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542">
                  <a:extLst>
                    <a:ext uri="{9D8B030D-6E8A-4147-A177-3AD203B41FA5}">
                      <a16:colId xmlns:a16="http://schemas.microsoft.com/office/drawing/2014/main" val="2092263353"/>
                    </a:ext>
                  </a:extLst>
                </a:gridCol>
                <a:gridCol w="3491537">
                  <a:extLst>
                    <a:ext uri="{9D8B030D-6E8A-4147-A177-3AD203B41FA5}">
                      <a16:colId xmlns:a16="http://schemas.microsoft.com/office/drawing/2014/main" val="3244501346"/>
                    </a:ext>
                  </a:extLst>
                </a:gridCol>
                <a:gridCol w="1914712">
                  <a:extLst>
                    <a:ext uri="{9D8B030D-6E8A-4147-A177-3AD203B41FA5}">
                      <a16:colId xmlns:a16="http://schemas.microsoft.com/office/drawing/2014/main" val="670021671"/>
                    </a:ext>
                  </a:extLst>
                </a:gridCol>
                <a:gridCol w="2242367">
                  <a:extLst>
                    <a:ext uri="{9D8B030D-6E8A-4147-A177-3AD203B41FA5}">
                      <a16:colId xmlns:a16="http://schemas.microsoft.com/office/drawing/2014/main" val="2782173524"/>
                    </a:ext>
                  </a:extLst>
                </a:gridCol>
                <a:gridCol w="2078539">
                  <a:extLst>
                    <a:ext uri="{9D8B030D-6E8A-4147-A177-3AD203B41FA5}">
                      <a16:colId xmlns:a16="http://schemas.microsoft.com/office/drawing/2014/main" val="39534966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TITLE OF THE PROJECT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AUTHOR/JOURNAL/YEAR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PROPOSED MODEL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FUTURE WORK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309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Transfer learning driven fake news detection and classification using large language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Deema Mohammed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Alsekait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05 August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0" dirty="0"/>
                        <a:t>Multi-Stage Transfer Learning Framework Uses: </a:t>
                      </a:r>
                      <a:r>
                        <a:rPr lang="en-IN" b="0" dirty="0" err="1"/>
                        <a:t>RoBERTa</a:t>
                      </a:r>
                      <a:r>
                        <a:rPr lang="en-IN" b="0" dirty="0"/>
                        <a:t> as the pre-trained language model.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Enable early fake news prediction without relying on comments.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537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Addressing data scarcity in multilingual fake news detection: an LLM-based dataset augmentation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Razieh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Chalehchaleh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28 August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LLM-based Data Augmentation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Improve synthetic data quality. Optimize augmentation rates and strategies.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50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 hybrid deep learning framework for fake news detection using LSTM-CGPNN and metaheuristic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ramesh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kumar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ayyasamy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/</a:t>
                      </a:r>
                    </a:p>
                    <a:p>
                      <a:r>
                        <a:rPr lang="en-IN" dirty="0"/>
                        <a:t>24 November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Hybrid Deep Learning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Model temporal evolution of fake news. Integrate SHAP, LIME, and attention visualization for explainability.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239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 sophisticated feature vectorization-based stacked machine learning approach for fake news detection in Bangla and 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Anichur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Rahman,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Hezerul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Abdul Karim or Abu Saleh Musa Miah 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31 December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TF-IDF + Stacked Ensemble Machine Learning Model Uses: TF-IDF for feature extraction. </a:t>
                      </a:r>
                    </a:p>
                    <a:p>
                      <a:r>
                        <a:rPr lang="en-IN" b="0" dirty="0"/>
                        <a:t>SMOTE for class balancing.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Use advanced models such as BERT, </a:t>
                      </a:r>
                      <a:r>
                        <a:rPr lang="en-IN" b="0" dirty="0" err="1"/>
                        <a:t>BanglaBERT</a:t>
                      </a:r>
                      <a:r>
                        <a:rPr lang="en-IN" b="0" dirty="0"/>
                        <a:t>, </a:t>
                      </a:r>
                      <a:r>
                        <a:rPr lang="en-IN" b="0" dirty="0" err="1"/>
                        <a:t>RoBERTa</a:t>
                      </a:r>
                      <a:r>
                        <a:rPr lang="en-IN" b="0" dirty="0"/>
                        <a:t>, GPT, </a:t>
                      </a:r>
                      <a:r>
                        <a:rPr lang="en-IN" b="0" dirty="0" err="1"/>
                        <a:t>DistilBERT</a:t>
                      </a:r>
                      <a:r>
                        <a:rPr lang="en-IN" b="0" dirty="0"/>
                        <a:t>, and ALBERT.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803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Leveraging data analytics for detection and impact evaluation of fake news and deepfakes in social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Yu-wang Chen 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08 July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Hybrid Fake News and Deepfake Detection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Improve fake news and deepfake detection accuracy.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655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5025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0869" y="406753"/>
            <a:ext cx="3392058" cy="430887"/>
          </a:xfrm>
        </p:spPr>
        <p:txBody>
          <a:bodyPr/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786530-0DEB-4AD5-9C05-FA78E1802E93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636293" y="969965"/>
            <a:ext cx="994610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research is concentrated on high-resource languages; Tamil has very limited labelled data and few published baselines.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Low-resource fake news data is skewed by construction, because fact-checking desks mainly publish claims already suspected to be false.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Translating Tamil into English before detection loses linguistic nuance and introduces translation error.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models report only a label and do not check the claim against any external evidence.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black-box; they do not show which parts of an article influenced the decision.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single framework combines multilingual support, contrastive representation learning, fact verification and explainability.</a:t>
            </a:r>
          </a:p>
        </p:txBody>
      </p:sp>
    </p:spTree>
    <p:extLst>
      <p:ext uri="{BB962C8B-B14F-4D97-AF65-F5344CB8AC3E}">
        <p14:creationId xmlns:p14="http://schemas.microsoft.com/office/powerpoint/2010/main" val="104107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689" y="406753"/>
            <a:ext cx="5204815" cy="49244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786530-0DEB-4AD5-9C05-FA78E1802E93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73775" y="1219201"/>
            <a:ext cx="986424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 framework that detects fake news accurately in both Tamil and English while remaining evidence-grounded and explainable.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forms only 7.8% of the available data, so a model trained on Tamil alone has too little supervision to generalise.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builds a Tamil-English framework that represents both languages in one XLM-RoBERTa space, applies supervised contrastive learning so the minority language benefits from the majority, and classifies each article as fake or real.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1 to 6 - corpus construction, preprocessing, feature extraction, contrastive learning, classification and evaluation - are implemented and evaluated.</a:t>
            </a:r>
          </a:p>
        </p:txBody>
      </p:sp>
    </p:spTree>
    <p:extLst>
      <p:ext uri="{BB962C8B-B14F-4D97-AF65-F5344CB8AC3E}">
        <p14:creationId xmlns:p14="http://schemas.microsoft.com/office/powerpoint/2010/main" val="167067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5917" y="422795"/>
            <a:ext cx="8133346" cy="507647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WORK-LIST OF MODULES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786530-0DEB-4AD5-9C05-FA78E1802E93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51560" y="804671"/>
            <a:ext cx="4892040" cy="256032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200" b="1" i="0">
                <a:solidFill>
                  <a:srgbClr val="1E6E3C"/>
                </a:solidFill>
                <a:latin typeface="Times New Roman"/>
              </a:rPr>
              <a:t>DATA AND MODEL  —  MODULES 1 to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804671"/>
            <a:ext cx="4892040" cy="256032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200" b="1" i="0">
                <a:solidFill>
                  <a:srgbClr val="1E6E3C"/>
                </a:solidFill>
                <a:latin typeface="Times New Roman"/>
              </a:rPr>
              <a:t>VERIFICATION AND DELIVERY  —  MODULES 7 to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078992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2144" y="1225295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1E2761"/>
                </a:solidFill>
                <a:latin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124712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Dataset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13807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Times New Roman"/>
              </a:rPr>
              <a:t>Tamil and English public news sources</a:t>
            </a:r>
          </a:p>
        </p:txBody>
      </p:sp>
      <p:sp>
        <p:nvSpPr>
          <p:cNvPr id="11" name="Isosceles Triangle 10"/>
          <p:cNvSpPr/>
          <p:nvPr/>
        </p:nvSpPr>
        <p:spPr>
          <a:xfrm rot="10800000">
            <a:off x="3396996" y="1746504"/>
            <a:ext cx="201168" cy="14630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1560" y="1879091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52144" y="2025395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1E2761"/>
                </a:solidFill>
                <a:latin typeface="Times New Roma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1924811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Data 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21808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Times New Roman"/>
              </a:rPr>
              <a:t>Clean · de-duplicate · encode · stratified split</a:t>
            </a:r>
          </a:p>
        </p:txBody>
      </p:sp>
      <p:sp>
        <p:nvSpPr>
          <p:cNvPr id="16" name="Isosceles Triangle 15"/>
          <p:cNvSpPr/>
          <p:nvPr/>
        </p:nvSpPr>
        <p:spPr>
          <a:xfrm rot="10800000">
            <a:off x="3396996" y="2546603"/>
            <a:ext cx="201168" cy="14630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1560" y="2679191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52144" y="2825496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1E2761"/>
                </a:solidFill>
                <a:latin typeface="Times New Rom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2724911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Feature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29809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Times New Roman"/>
              </a:rPr>
              <a:t>XLM-RoBERTa → 768-d contextual embeddings</a:t>
            </a:r>
          </a:p>
        </p:txBody>
      </p:sp>
      <p:sp>
        <p:nvSpPr>
          <p:cNvPr id="21" name="Isosceles Triangle 20"/>
          <p:cNvSpPr/>
          <p:nvPr/>
        </p:nvSpPr>
        <p:spPr>
          <a:xfrm rot="10800000">
            <a:off x="3396996" y="3346703"/>
            <a:ext cx="201168" cy="14630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1560" y="3479291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52144" y="3625596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1E2761"/>
                </a:solidFill>
                <a:latin typeface="Times New Roman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5064" y="3525011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Contrastive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5064" y="37810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Times New Roman"/>
              </a:rPr>
              <a:t>Supervised contrastive representation learning</a:t>
            </a:r>
          </a:p>
        </p:txBody>
      </p:sp>
      <p:sp>
        <p:nvSpPr>
          <p:cNvPr id="26" name="Isosceles Triangle 25"/>
          <p:cNvSpPr/>
          <p:nvPr/>
        </p:nvSpPr>
        <p:spPr>
          <a:xfrm rot="10800000">
            <a:off x="3396996" y="4146803"/>
            <a:ext cx="201168" cy="14630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1560" y="4279392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52144" y="4425696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1E2761"/>
                </a:solidFill>
                <a:latin typeface="Times New Roman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5064" y="4325112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5064" y="45811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Times New Roman"/>
              </a:rPr>
              <a:t>MLP classifier → Fake / Real</a:t>
            </a:r>
          </a:p>
        </p:txBody>
      </p:sp>
      <p:sp>
        <p:nvSpPr>
          <p:cNvPr id="31" name="Isosceles Triangle 30"/>
          <p:cNvSpPr/>
          <p:nvPr/>
        </p:nvSpPr>
        <p:spPr>
          <a:xfrm rot="10800000">
            <a:off x="3396996" y="4946903"/>
            <a:ext cx="201168" cy="14630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1560" y="5079492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52144" y="5225796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1E2761"/>
                </a:solidFill>
                <a:latin typeface="Times New Roman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55064" y="5125212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Model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55064" y="53812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Times New Roman"/>
              </a:rPr>
              <a:t>Accuracy · Macro-F1 · ROC-AUC · per language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1078992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775704" y="1225295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1E2761"/>
                </a:solidFill>
                <a:latin typeface="Times New Roman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8624" y="1124712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Fact Verification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8624" y="13807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Times New Roman"/>
              </a:rPr>
              <a:t>BM25 retrieval + XLM-R evidence verifier</a:t>
            </a:r>
          </a:p>
        </p:txBody>
      </p:sp>
      <p:sp>
        <p:nvSpPr>
          <p:cNvPr id="40" name="Isosceles Triangle 39"/>
          <p:cNvSpPr/>
          <p:nvPr/>
        </p:nvSpPr>
        <p:spPr>
          <a:xfrm rot="10800000">
            <a:off x="9020556" y="1746504"/>
            <a:ext cx="201168" cy="14630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675120" y="1879091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775704" y="2025395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1E2761"/>
                </a:solidFill>
                <a:latin typeface="Times New Roman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8624" y="1924811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Decision Fusion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78624" y="21808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Times New Roman"/>
              </a:rPr>
              <a:t>Frozen validation parameters, applied to test</a:t>
            </a:r>
          </a:p>
        </p:txBody>
      </p:sp>
      <p:sp>
        <p:nvSpPr>
          <p:cNvPr id="45" name="Isosceles Triangle 44"/>
          <p:cNvSpPr/>
          <p:nvPr/>
        </p:nvSpPr>
        <p:spPr>
          <a:xfrm rot="10800000">
            <a:off x="9020556" y="2546603"/>
            <a:ext cx="201168" cy="14630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675120" y="2679191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775704" y="2825496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1E2761"/>
                </a:solidFill>
                <a:latin typeface="Times New Roman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8624" y="2724911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Explainable 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78624" y="29809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Times New Roman"/>
              </a:rPr>
              <a:t>Word-level occlusion attribution</a:t>
            </a:r>
          </a:p>
        </p:txBody>
      </p:sp>
      <p:sp>
        <p:nvSpPr>
          <p:cNvPr id="50" name="Isosceles Triangle 49"/>
          <p:cNvSpPr/>
          <p:nvPr/>
        </p:nvSpPr>
        <p:spPr>
          <a:xfrm rot="10800000">
            <a:off x="9020556" y="3346703"/>
            <a:ext cx="201168" cy="14630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Up Arrow 54"/>
          <p:cNvSpPr/>
          <p:nvPr/>
        </p:nvSpPr>
        <p:spPr>
          <a:xfrm>
            <a:off x="8974836" y="4389120"/>
            <a:ext cx="292608" cy="292608"/>
          </a:xfrm>
          <a:prstGeom prst="upArrow">
            <a:avLst/>
          </a:prstGeom>
          <a:solidFill>
            <a:srgbClr val="1E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675120" y="4754880"/>
            <a:ext cx="4892040" cy="896112"/>
          </a:xfrm>
          <a:prstGeom prst="roundRect">
            <a:avLst>
              <a:gd name="adj" fmla="val 10000"/>
            </a:avLst>
          </a:prstGeom>
          <a:solidFill>
            <a:srgbClr val="E9EEF9"/>
          </a:solidFill>
          <a:ln w="12700">
            <a:solidFill>
              <a:srgbClr val="9AA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858000" y="4846320"/>
            <a:ext cx="4526279" cy="237744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00" b="1" i="0">
                <a:solidFill>
                  <a:srgbClr val="1E6E3C"/>
                </a:solidFill>
                <a:latin typeface="Times New Roman"/>
              </a:rPr>
              <a:t>HAND-OFF FROM MODULE 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5065776"/>
            <a:ext cx="4526279" cy="530352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606678"/>
                </a:solidFill>
                <a:latin typeface="Times New Roman"/>
              </a:rPr>
              <a:t>The Fake / Real prediction and its probability feed fact verification, which supplies evidence to the fusion stage.</a:t>
            </a:r>
          </a:p>
        </p:txBody>
      </p:sp>
    </p:spTree>
    <p:extLst>
      <p:ext uri="{BB962C8B-B14F-4D97-AF65-F5344CB8AC3E}">
        <p14:creationId xmlns:p14="http://schemas.microsoft.com/office/powerpoint/2010/main" val="369023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538" y="579675"/>
            <a:ext cx="10789920" cy="369332"/>
          </a:xfrm>
        </p:spPr>
        <p:txBody>
          <a:bodyPr/>
          <a:lstStyle/>
          <a:p>
            <a:pPr algn="ctr"/>
            <a:r>
              <a:rPr sz="2400" b="1" dirty="0" smtClean="0">
                <a:solidFill>
                  <a:srgbClr val="FF0000"/>
                </a:solidFill>
                <a:latin typeface="Times New Roman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Times New Roman"/>
              </a:rPr>
              <a:t>MODULES 1 TO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403615"/>
              </p:ext>
            </p:extLst>
          </p:nvPr>
        </p:nvGraphicFramePr>
        <p:xfrm>
          <a:off x="2493356" y="1662545"/>
          <a:ext cx="841248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875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Module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Work completed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8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1  Dataset Collection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69,089 records from 4 public Tamil/English sources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8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2  Data Preprocessing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69,008 clean records; stratified 70/15/15 split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8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3  Feature Extraction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138,016 XLM-RoBERTa embeddings (768-d, L2-normalised)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8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4  Contrastive Learning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Supervised contrastive training; 8-configuration ablation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8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5  Classification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MLP classifier trained; configuration selected on validation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87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6  Model Evaluation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Accuracy, precision, recall, macro-F1, ROC-AUC, per language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219456"/>
            <a:ext cx="10789920" cy="566928"/>
          </a:xfrm>
        </p:spPr>
        <p:txBody>
          <a:bodyPr/>
          <a:lstStyle/>
          <a:p>
            <a:pPr algn="ctr"/>
            <a:r>
              <a:rPr sz="2400" b="1">
                <a:solidFill>
                  <a:srgbClr val="FF0000"/>
                </a:solidFill>
                <a:latin typeface="Times New Roman"/>
              </a:rPr>
              <a:t>MODULE 1 &amp; 2  —  DATASET AND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89611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E2761"/>
                </a:solidFill>
                <a:latin typeface="Times New Roman"/>
              </a:rPr>
              <a:t>Module 1 — Dataset Collection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0120" y="1280160"/>
          <a:ext cx="53492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Source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Lang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Real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Fake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WELFake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en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28,882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34,790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63,672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aanirudh_headlines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ta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2,285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2,893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5,178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Daily Thanthi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ta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214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225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BOOM Tamil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ta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14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31,383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37,706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69,089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60120" y="3703320"/>
            <a:ext cx="5074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Times New Roman"/>
              </a:rPr>
              <a:t>English 63,673  ·  Tamil 5,416  (7.8% of corpus)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Times New Roman"/>
              </a:rPr>
              <a:t>Fake 37,706  ·  Real 31,383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Mean article length 3,100 characters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55555"/>
                </a:solidFill>
                <a:latin typeface="Times New Roman"/>
              </a:rPr>
              <a:t>Every record retains its source for provenance.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8961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E2761"/>
                </a:solidFill>
                <a:latin typeface="Times New Roman"/>
              </a:rPr>
              <a:t>Module 2 — 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28016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514 missing titles repaired → 0 remaining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70 documents below length floor removed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11 exact duplicates removed  (69,019 → 69,008)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Labels encoded 0 = real, 1 = fake  (0 invalid)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Language verified — 0 mismatches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Stratified on (language, label), seed 42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3730752"/>
          <a:ext cx="5074920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Split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Records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Share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Train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48,305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70%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Validation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10,351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15%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Test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10,352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15%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46520" y="51389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6E3C"/>
                </a:solidFill>
                <a:latin typeface="Times New Roman"/>
              </a:rPr>
              <a:t>Leakage check passed:  train∩val = train∩test = val∩test =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219456"/>
            <a:ext cx="10789920" cy="566928"/>
          </a:xfrm>
        </p:spPr>
        <p:txBody>
          <a:bodyPr/>
          <a:lstStyle/>
          <a:p>
            <a:pPr algn="ctr"/>
            <a:r>
              <a:rPr sz="2400" b="1">
                <a:solidFill>
                  <a:srgbClr val="FF0000"/>
                </a:solidFill>
                <a:latin typeface="Times New Roman"/>
              </a:rPr>
              <a:t>MODULE 3 &amp; 4  —  FEATURES AND CONTRASTIVE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89611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E2761"/>
                </a:solidFill>
                <a:latin typeface="Times New Roman"/>
              </a:rPr>
              <a:t>Module 3 — XLM-RoBERTa 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75724"/>
            <a:ext cx="5074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Times New Roman"/>
              </a:rPr>
              <a:t>1.  Tamil / English text → </a:t>
            </a:r>
            <a:r>
              <a:rPr sz="1500" b="0" i="0" dirty="0" err="1">
                <a:solidFill>
                  <a:srgbClr val="1A1A1A"/>
                </a:solidFill>
                <a:latin typeface="Times New Roman"/>
              </a:rPr>
              <a:t>SentencePiece</a:t>
            </a:r>
            <a:r>
              <a:rPr sz="1500" b="0" i="0" dirty="0">
                <a:solidFill>
                  <a:srgbClr val="1A1A1A"/>
                </a:solidFill>
                <a:latin typeface="Times New Roman"/>
              </a:rPr>
              <a:t> tokenizer</a:t>
            </a: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Times New Roman"/>
              </a:rPr>
              <a:t>2.  </a:t>
            </a:r>
            <a:r>
              <a:rPr sz="1500" b="0" i="0" dirty="0" err="1">
                <a:solidFill>
                  <a:srgbClr val="1A1A1A"/>
                </a:solidFill>
                <a:latin typeface="Times New Roman"/>
              </a:rPr>
              <a:t>xlm</a:t>
            </a:r>
            <a:r>
              <a:rPr sz="1500" b="0" i="0" dirty="0">
                <a:solidFill>
                  <a:srgbClr val="1A1A1A"/>
                </a:solidFill>
                <a:latin typeface="Times New Roman"/>
              </a:rPr>
              <a:t>-</a:t>
            </a:r>
            <a:r>
              <a:rPr sz="1500" b="0" i="0" dirty="0" err="1">
                <a:solidFill>
                  <a:srgbClr val="1A1A1A"/>
                </a:solidFill>
                <a:latin typeface="Times New Roman"/>
              </a:rPr>
              <a:t>roberta</a:t>
            </a:r>
            <a:r>
              <a:rPr sz="1500" b="0" i="0" dirty="0">
                <a:solidFill>
                  <a:srgbClr val="1A1A1A"/>
                </a:solidFill>
                <a:latin typeface="Times New Roman"/>
              </a:rPr>
              <a:t>-base encoder, </a:t>
            </a:r>
            <a:r>
              <a:rPr sz="1500" b="0" i="0" dirty="0" err="1">
                <a:solidFill>
                  <a:srgbClr val="1A1A1A"/>
                </a:solidFill>
                <a:latin typeface="Times New Roman"/>
              </a:rPr>
              <a:t>max_length</a:t>
            </a:r>
            <a:r>
              <a:rPr sz="1500" b="0" i="0" dirty="0">
                <a:solidFill>
                  <a:srgbClr val="1A1A1A"/>
                </a:solidFill>
                <a:latin typeface="Times New Roman"/>
              </a:rPr>
              <a:t> 512</a:t>
            </a: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Times New Roman"/>
              </a:rPr>
              <a:t>3.  Attention-mask weighted mean pooling</a:t>
            </a: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Times New Roman"/>
              </a:rPr>
              <a:t>4.  L2 </a:t>
            </a:r>
            <a:r>
              <a:rPr sz="1500" b="0" i="0" dirty="0" err="1">
                <a:solidFill>
                  <a:srgbClr val="1A1A1A"/>
                </a:solidFill>
                <a:latin typeface="Times New Roman"/>
              </a:rPr>
              <a:t>normalisation</a:t>
            </a:r>
            <a:r>
              <a:rPr sz="1500" b="0" i="0" dirty="0">
                <a:solidFill>
                  <a:srgbClr val="1A1A1A"/>
                </a:solidFill>
                <a:latin typeface="Times New Roman"/>
              </a:rPr>
              <a:t> → 768-d unit vector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60120" y="3520440"/>
          <a:ext cx="5349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Setting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xlm-roberta-base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Embedding dimension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768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Pooling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mean  (and CLS)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Normalisation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L2, unit length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Vectors generated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138,016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46520" y="8961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E2761"/>
                </a:solidFill>
                <a:latin typeface="Times New Roman"/>
              </a:rPr>
              <a:t>Module 4 — Supervised Contrastive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28016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Times New Roman"/>
              </a:rPr>
              <a:t>Positives: same-label articles in the batch, including Tamil–English pairs. Negatives: opposite-label articles.</a:t>
            </a:r>
          </a:p>
          <a:p>
            <a:pPr algn="l">
              <a:spcAft>
                <a:spcPts val="600"/>
              </a:spcAft>
            </a:pPr>
            <a:r>
              <a:rPr sz="1400" b="0" i="1" dirty="0">
                <a:solidFill>
                  <a:srgbClr val="555555"/>
                </a:solidFill>
                <a:latin typeface="Times New Roman"/>
              </a:rPr>
              <a:t>Measured in epoch 1: 130.1 positives per anchor, 0 anchors without a positive.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3063240"/>
          <a:ext cx="50749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Parameter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Loss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Supervised contrastive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Temperature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0.07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Optimizer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AdamW,  lr 5 × 10⁻⁴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Batch size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256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Max epochs / run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30 / 13  (early stop)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7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Ablation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2 pooling × 2 samplers × 2 methods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219456"/>
            <a:ext cx="10789920" cy="566928"/>
          </a:xfrm>
        </p:spPr>
        <p:txBody>
          <a:bodyPr/>
          <a:lstStyle/>
          <a:p>
            <a:pPr algn="ctr"/>
            <a:r>
              <a:rPr sz="2400" b="1">
                <a:solidFill>
                  <a:srgbClr val="FF0000"/>
                </a:solidFill>
                <a:latin typeface="Times New Roman"/>
              </a:rPr>
              <a:t>MODULE 5 &amp; 6  —  CLASSIFICATION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877824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Times New Roman"/>
              </a:rPr>
              <a:t>MLP 768→512→128→2  ·  CrossEntropyLoss  ·  AdamW, lr 1×10⁻³  ·  batch 512  ·  50 epochs, early stopping (patience 8) on validation macro-F1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0120" y="1481328"/>
          <a:ext cx="107899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Model / configuration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Macro F1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ROC-AUC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Majority-class baseline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0.5463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0.2732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0.5000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0.3533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0.5000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Logistic regression (CLS)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0.7922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0.7915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0.7881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0.7893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0.8807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Logistic regression (mean)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0.8139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0.8151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0.8088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0.8107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0.8986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SupCon + linear head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0.9686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0.9689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0.9678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0.9683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0.9940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MLP classifier  (selected)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0.9765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0.9769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0.9758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0.9763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0.9969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60120" y="365760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1">
                <a:solidFill>
                  <a:srgbClr val="555555"/>
                </a:solidFill>
                <a:latin typeface="Times New Roman"/>
              </a:rPr>
              <a:t>Modules 4 to 6 figures are validation-split results (n = 10,351). Test-split results are reported in Module 8.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60120" y="4041648"/>
          <a:ext cx="512064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Language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Macro F1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ROC-AUC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English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9,540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0.9773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0.9770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0.9971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Tamil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811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0.9679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0.9678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0.9951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" y="5285232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6E3C"/>
                </a:solidFill>
                <a:latin typeface="Times New Roman"/>
              </a:rPr>
              <a:t>Tamil macro-F1 is within 0.009 of English despite Tamil being only 7.8% of the corpus.</a:t>
            </a:r>
          </a:p>
        </p:txBody>
      </p:sp>
      <p:pic>
        <p:nvPicPr>
          <p:cNvPr id="8" name="Picture 7" descr="cm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977639"/>
            <a:ext cx="2240280" cy="1920240"/>
          </a:xfrm>
          <a:prstGeom prst="rect">
            <a:avLst/>
          </a:prstGeom>
        </p:spPr>
      </p:pic>
      <p:pic>
        <p:nvPicPr>
          <p:cNvPr id="9" name="Picture 8" descr="cm_tam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3977639"/>
            <a:ext cx="224028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219456"/>
            <a:ext cx="10789920" cy="566928"/>
          </a:xfrm>
        </p:spPr>
        <p:txBody>
          <a:bodyPr/>
          <a:lstStyle/>
          <a:p>
            <a:pPr algn="ctr"/>
            <a:r>
              <a:rPr sz="2400" b="1">
                <a:solidFill>
                  <a:srgbClr val="FF0000"/>
                </a:solidFill>
                <a:latin typeface="Times New Roman"/>
              </a:rPr>
              <a:t>MODULE 6  —  ABLATION AND BEST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8961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761"/>
                </a:solidFill>
                <a:latin typeface="Times New Roman"/>
              </a:rPr>
              <a:t>All 8 ablation configurations (validation macro-F1)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0120" y="1280160"/>
          <a:ext cx="54864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Configuration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Macro F1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mean · uniform · CE-MLP   (selected)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0.9763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mean · language-aware · SupCon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0.9736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mean · language-aware · CE-MLP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0.9734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cls · uniform · CE-MLP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0.9713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cls · language-aware · CE-MLP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0.9686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mean · uniform · SupCon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0.9683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cls · uniform · SupCon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0.9661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cls · language-aware · SupCon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0.9594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60120" y="5285232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55555"/>
                </a:solidFill>
                <a:latin typeface="Times New Roman"/>
              </a:rPr>
              <a:t>Selection used validation macro-F1 only. Every configuration is recorded, including the weaker 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8961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761"/>
                </a:solidFill>
                <a:latin typeface="Times New Roman"/>
              </a:rPr>
              <a:t>Best result achieved so far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29400" y="1280160"/>
          <a:ext cx="49834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0.9765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Precision (macro)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0.9769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Recall (macro)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0.9758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Macro F1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0.9763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29400" y="3127248"/>
            <a:ext cx="51206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Times New Roman"/>
              </a:rPr>
              <a:t>Observations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Best model exceeds the strongest classical baseline by +0.1656 macro-F1.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Mean pooling outperformed CLS pooling in every configuration tested.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Contrastive training keeps Tamil within 0.009 macro-F1 of English.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Modules 1–6 complete; remaining modules are in progress.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219456"/>
            <a:ext cx="10789920" cy="566928"/>
          </a:xfrm>
        </p:spPr>
        <p:txBody>
          <a:bodyPr/>
          <a:lstStyle/>
          <a:p>
            <a:pPr algn="ctr"/>
            <a:r>
              <a:rPr sz="2400" b="1">
                <a:solidFill>
                  <a:srgbClr val="FF0000"/>
                </a:solidFill>
                <a:latin typeface="Times New Roman"/>
              </a:rPr>
              <a:t>MODULE 7  —  FACT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1" i="0">
                <a:solidFill>
                  <a:srgbClr val="1E2761"/>
                </a:solidFill>
                <a:latin typeface="Times New Roman"/>
              </a:rPr>
              <a:t>Claim  →  BM25 retrieval over a fixed evidence corpus  →  XLM-R cross-encoder verifier  →  SUPPORTS / REFUTES / NOT ENOUGH INFO   (FEVER)   ·   false / true / partly true  (X-FACT)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31673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Times New Roman"/>
              </a:rPr>
              <a:t>Retrieval quality  —  Recall@5 on the test claims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104295"/>
              </p:ext>
            </p:extLst>
          </p:nvPr>
        </p:nvGraphicFramePr>
        <p:xfrm>
          <a:off x="960120" y="1645920"/>
          <a:ext cx="50749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Corpus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BM25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Dense (LaBSE)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FEVER  (English)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0.5491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0.3227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X-FACT  (Tamil)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0.6706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0.5347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80160" y="460192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 dirty="0">
                <a:solidFill>
                  <a:srgbClr val="1E2761"/>
                </a:solidFill>
                <a:latin typeface="Times New Roman"/>
              </a:rPr>
              <a:t>Two separate label spaces, never mixed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6593" y="4985974"/>
            <a:ext cx="5074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Times New Roman"/>
              </a:rPr>
              <a:t>•  FEVER (English) — SUPPORTS / REFUTES / NOT ENOUGH INFO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Times New Roman"/>
              </a:rPr>
              <a:t>•  X-FACT (Tamil) — false / true / partly true or misleading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Times New Roman"/>
              </a:rPr>
              <a:t>•  A Tamil result is never labelled with FEVER vocabulary.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1673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Times New Roman"/>
              </a:rPr>
              <a:t>Verifier results on the test split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55080" y="1645920"/>
          <a:ext cx="53949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Variant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Macro F1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Weighted F1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FEVER  claim-only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0.6066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0.6098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0.6092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FEVER  evidence-aware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0.6337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0.6356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0.6294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X-FACT  claim-only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0.5792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0.2445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0.4248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Times New Roman"/>
                        </a:rPr>
                        <a:t>X-FACT  evidence-aware</a:t>
                      </a:r>
                    </a:p>
                  </a:txBody>
                  <a:tcPr marL="45720" marR="45720" marT="9144" marB="9144" anchor="ctr">
                    <a:solidFill>
                      <a:srgbClr val="E9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A1A1A"/>
                          </a:solidFill>
                          <a:latin typeface="Times New Roman"/>
                        </a:rPr>
                        <a:t>0.6380</a:t>
                      </a:r>
                    </a:p>
                  </a:txBody>
                  <a:tcPr marL="45720" marR="45720" marT="9144" marB="9144" anchor="ctr">
                    <a:solidFill>
                      <a:srgbClr val="E9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A1A1A"/>
                          </a:solidFill>
                          <a:latin typeface="Times New Roman"/>
                        </a:rPr>
                        <a:t>0.4180</a:t>
                      </a:r>
                    </a:p>
                  </a:txBody>
                  <a:tcPr marL="45720" marR="45720" marT="9144" marB="9144" anchor="ctr">
                    <a:solidFill>
                      <a:srgbClr val="E9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A1A1A"/>
                          </a:solidFill>
                          <a:latin typeface="Times New Roman"/>
                        </a:rPr>
                        <a:t>0.5783</a:t>
                      </a:r>
                    </a:p>
                  </a:txBody>
                  <a:tcPr marL="45720" marR="45720" marT="9144" marB="9144" anchor="ctr">
                    <a:solidFill>
                      <a:srgbClr val="E9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X-FACT  Tamil evidence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0.6244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0.4126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0.5712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219456"/>
            <a:ext cx="10789920" cy="566928"/>
          </a:xfrm>
        </p:spPr>
        <p:txBody>
          <a:bodyPr/>
          <a:lstStyle/>
          <a:p>
            <a:pPr algn="ctr"/>
            <a:r>
              <a:rPr sz="2400" b="1">
                <a:solidFill>
                  <a:srgbClr val="FF0000"/>
                </a:solidFill>
                <a:latin typeface="Times New Roman"/>
              </a:rPr>
              <a:t>MODULE 8  —  DECISION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1" i="0">
                <a:solidFill>
                  <a:srgbClr val="1E2761"/>
                </a:solidFill>
                <a:latin typeface="Times New Roman"/>
              </a:rPr>
              <a:t>P(fake) fused  =  α × P(fake) classifier  +  (1 − α) × P(fake) verifier → temperature scaling →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31673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Times New Roman"/>
              </a:rPr>
              <a:t>Parameters fitted on validation, then frozen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921600"/>
              </p:ext>
            </p:extLst>
          </p:nvPr>
        </p:nvGraphicFramePr>
        <p:xfrm>
          <a:off x="960120" y="1645920"/>
          <a:ext cx="5074920" cy="2445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83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Parameter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Meaning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2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alpha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0.95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Classifier supplies 95% of the fused probability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83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threshold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0.56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P(fake) at or above this is FAKE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83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temperature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0.7079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Applied in logit space; T&lt;1 sharpens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80460" y="4372864"/>
            <a:ext cx="5074920" cy="1188720"/>
          </a:xfrm>
          <a:prstGeom prst="roundRect">
            <a:avLst>
              <a:gd name="adj" fmla="val 8000"/>
            </a:avLst>
          </a:prstGeom>
          <a:solidFill>
            <a:srgbClr val="E8F3EC"/>
          </a:solidFill>
          <a:ln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63340" y="4555744"/>
            <a:ext cx="4709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 dirty="0">
                <a:solidFill>
                  <a:srgbClr val="1E6E3C"/>
                </a:solidFill>
                <a:latin typeface="Times New Roman"/>
              </a:rPr>
              <a:t>Verification:  23 checks passed, 0 failed</a:t>
            </a:r>
          </a:p>
          <a:p>
            <a:pPr algn="l">
              <a:spcAft>
                <a:spcPts val="500"/>
              </a:spcAft>
            </a:pPr>
            <a:r>
              <a:rPr sz="1200" b="0" i="0" dirty="0">
                <a:solidFill>
                  <a:srgbClr val="1A1A1A"/>
                </a:solidFill>
                <a:latin typeface="Times New Roman"/>
              </a:rPr>
              <a:t>Includes a re-computation of the test predictions from the stored parameters, proving nothing was tuned on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1673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 dirty="0">
                <a:solidFill>
                  <a:srgbClr val="1E2761"/>
                </a:solidFill>
                <a:latin typeface="Times New Roman"/>
              </a:rPr>
              <a:t>Test-split results  —  classifier alone vs fused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004508"/>
              </p:ext>
            </p:extLst>
          </p:nvPr>
        </p:nvGraphicFramePr>
        <p:xfrm>
          <a:off x="6355079" y="1645920"/>
          <a:ext cx="5467465" cy="2445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1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1447">
                <a:tc>
                  <a:txBody>
                    <a:bodyPr/>
                    <a:lstStyle/>
                    <a:p>
                      <a:pPr algn="ctr"/>
                      <a:r>
                        <a:rPr sz="125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Macro F1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Classifier only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Integrated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Change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447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Overall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0.971786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0.972681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+0.000895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447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English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0.972654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0.973625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+0.000971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447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Tamil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0.961620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0.961620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0.000000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219456"/>
            <a:ext cx="10789920" cy="566928"/>
          </a:xfrm>
        </p:spPr>
        <p:txBody>
          <a:bodyPr/>
          <a:lstStyle/>
          <a:p>
            <a:pPr algn="ctr"/>
            <a:r>
              <a:rPr sz="2400" b="1">
                <a:solidFill>
                  <a:srgbClr val="FF0000"/>
                </a:solidFill>
                <a:latin typeface="Times New Roman"/>
              </a:rPr>
              <a:t>MODULE 9  —  EXPLAINABLE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1" i="0">
                <a:solidFill>
                  <a:srgbClr val="1E2761"/>
                </a:solidFill>
                <a:latin typeface="Times New Roman"/>
              </a:rPr>
              <a:t>Occlusion attribution:   attribution  =  P(fake) of the full text  −  P(fake) with one word removed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885069"/>
              </p:ext>
            </p:extLst>
          </p:nvPr>
        </p:nvGraphicFramePr>
        <p:xfrm>
          <a:off x="3497580" y="1825752"/>
          <a:ext cx="5222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4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4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1274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Attribution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Removing the word...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Meaning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49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Positive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lowers P(fake)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the word pushed toward FAKE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491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Negative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raises P(fake)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the word pushed toward REAL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88193" y="4200698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Times New Roman"/>
              </a:rPr>
              <a:t>•  Primary method: occlusion (word-level, max 128 tokens).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Times New Roman"/>
              </a:rPr>
              <a:t>•  200 validation and 500 test explanations generated.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Times New Roman"/>
              </a:rPr>
              <a:t>•  Verification: 12 checks passed, 0 failed.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Times New Roman"/>
              </a:rPr>
              <a:t>•  Explains the classifier only — not the verifier, and not factual truth.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219456"/>
            <a:ext cx="10789920" cy="566928"/>
          </a:xfrm>
        </p:spPr>
        <p:txBody>
          <a:bodyPr/>
          <a:lstStyle/>
          <a:p>
            <a:pPr algn="ctr"/>
            <a:r>
              <a:rPr sz="2400" b="1">
                <a:solidFill>
                  <a:srgbClr val="FF0000"/>
                </a:solidFill>
                <a:latin typeface="Times New Roman"/>
              </a:rPr>
              <a:t>FINAL IMPLEMENTATION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354352"/>
              </p:ext>
            </p:extLst>
          </p:nvPr>
        </p:nvGraphicFramePr>
        <p:xfrm>
          <a:off x="2068484" y="1105871"/>
          <a:ext cx="8778240" cy="3366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665">
                <a:tc>
                  <a:txBody>
                    <a:bodyPr/>
                    <a:lstStyle/>
                    <a:p>
                      <a:pPr algn="ctr"/>
                      <a:r>
                        <a:rPr sz="125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Module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Work completed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66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1  Dataset Collection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69,089 records from 4 public Tamil/English sources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66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2  Data Preprocessing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69,008 clean records; stratified 70/15/15; leakage check passed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66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3  Feature Extraction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138,016 XLM-RoBERTa embeddings (768-d, L2-normalised)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66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4  Contrastive Learning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Supervised contrastive training; 8-configuration ablation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66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5  Classification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MLP classifier; test macro-F1 0.9718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66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6  Model Evaluation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Accuracy, precision, recall, macro-F1, ROC-AUC, per language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66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7  Fact Verification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BM25 retrieval + XLM-R verifier; evidence adds +17.4 pp on Tamil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66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8  Decision Fusion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Frozen validation parameters; test macro-F1 0.9727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66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9  Explainable AI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Occlusion attribution; encoder defect found and corrected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60120" y="4736592"/>
            <a:ext cx="10789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 dirty="0">
                <a:solidFill>
                  <a:srgbClr val="1E2761"/>
                </a:solidFill>
                <a:latin typeface="Times New Roman"/>
              </a:rPr>
              <a:t>All </a:t>
            </a:r>
            <a:r>
              <a:rPr lang="en-US" sz="2000" b="1" dirty="0">
                <a:solidFill>
                  <a:srgbClr val="1E2761"/>
                </a:solidFill>
                <a:latin typeface="Times New Roman"/>
              </a:rPr>
              <a:t>9</a:t>
            </a:r>
            <a:r>
              <a:rPr sz="2000" b="1" i="0" dirty="0" smtClean="0">
                <a:solidFill>
                  <a:srgbClr val="1E2761"/>
                </a:solidFill>
                <a:latin typeface="Times New Roman"/>
              </a:rPr>
              <a:t> </a:t>
            </a:r>
            <a:r>
              <a:rPr sz="2000" b="1" i="0" dirty="0">
                <a:solidFill>
                  <a:srgbClr val="1E2761"/>
                </a:solidFill>
                <a:latin typeface="Times New Roman"/>
              </a:rPr>
              <a:t>modules implemented and verified  —  100%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424453"/>
              </p:ext>
            </p:extLst>
          </p:nvPr>
        </p:nvGraphicFramePr>
        <p:xfrm>
          <a:off x="3255356" y="5341758"/>
          <a:ext cx="6035040" cy="769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914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Module 7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Module 8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Module 9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23 pass / 0 fail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12 pass / 0 fail</a:t>
                      </a: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18 pass / 0 fail</a:t>
                      </a:r>
                    </a:p>
                  </a:txBody>
                  <a:tcPr marL="45720" marR="45720" marT="9144" marB="914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9863" y="161046"/>
            <a:ext cx="3007047" cy="49244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786530-0DEB-4AD5-9C05-FA78E1802E93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 flipH="1">
            <a:off x="756385" y="931282"/>
            <a:ext cx="1143561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 W. Ji and H. 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Lv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"Explainable multi-granularity attribution reasoning framework for fake news detection," 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npj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Artificial Intelligence, 2026.</a:t>
            </a:r>
          </a:p>
          <a:p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I. 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Ni'mah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"A simple contrastive embedding framework 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forlow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-resource fake news detection," Neural Computing and Applications, vol. 37, pp. 21407–21433, 2025.</a:t>
            </a:r>
          </a:p>
          <a:p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L. Li et al., "Multi-modal fake news detection: A comprehensive survey  on deep learning technology, advances, and challenges," Journal of King Saud University – Computer and Information Sciences, 2025.</a:t>
            </a:r>
          </a:p>
          <a:p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A. 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Ghaffari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"A semi-supervised fake news detection model using the grasshopper optimization algorithm," Discover Artificial Intelligence, 2026.</a:t>
            </a:r>
          </a:p>
          <a:p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[5] Y. Xian et al., "Early detection of fake news by integrating global structure and publisher credibility," Information Processing &amp; Management, 2025.</a:t>
            </a:r>
          </a:p>
          <a:p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[6] H. Hossain, M. Z. Rahman, M. S. Islam, and S. 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BanFakeNews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 dataset for detecting fake news in Bangla," in Proc. 12th Language Resources and Evaluation Conf. (LREC), Marseille, France, 2020,</a:t>
            </a: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pp. 2862–2871.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Times New Roman"/>
              </a:rPr>
              <a:t>[7] A. Conneau et al., "Unsupervised cross-lingual representation learning at scale," in Proc. Annu. Meeting Assoc. Computational Linguistics (ACL), 2020.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Times New Roman"/>
              </a:rPr>
              <a:t>[8] P. Khosla et al., "Supervised contrastive learning," in Advances in Neural Information Processing Systems (NeurIPS), vol. 33, 2020.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Times New Roman"/>
              </a:rPr>
              <a:t>[9] R. Mirnalinee et al., "A novel dataset for fake news detection in Tamil regional language," in Proc. SPELLL, 2022.</a:t>
            </a:r>
          </a:p>
        </p:txBody>
      </p:sp>
    </p:spTree>
    <p:extLst>
      <p:ext uri="{BB962C8B-B14F-4D97-AF65-F5344CB8AC3E}">
        <p14:creationId xmlns:p14="http://schemas.microsoft.com/office/powerpoint/2010/main" val="392963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 descr="381,992 Thank You Images, Stock Photos &amp; Vectors | Shutterstock"/>
          <p:cNvSpPr/>
          <p:nvPr/>
        </p:nvSpPr>
        <p:spPr>
          <a:xfrm>
            <a:off x="1981200" y="1828800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7" descr="381,992 Thank You Images, Stock Photos &amp; Vectors | Shutterstock"/>
          <p:cNvPicPr preferRelativeResize="0"/>
          <p:nvPr/>
        </p:nvPicPr>
        <p:blipFill rotWithShape="1">
          <a:blip r:embed="rId3">
            <a:alphaModFix/>
          </a:blip>
          <a:srcRect b="5712"/>
          <a:stretch/>
        </p:blipFill>
        <p:spPr>
          <a:xfrm>
            <a:off x="840509" y="0"/>
            <a:ext cx="113514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F4A5BDD-56EF-4D21-9AFD-05BECF54570E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2799</Words>
  <Application>Microsoft Office PowerPoint</Application>
  <PresentationFormat>Widescreen</PresentationFormat>
  <Paragraphs>535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Lustria</vt:lpstr>
      <vt:lpstr>Arial</vt:lpstr>
      <vt:lpstr>Times New Roman</vt:lpstr>
      <vt:lpstr>Calibri</vt:lpstr>
      <vt:lpstr>Office Theme</vt:lpstr>
      <vt:lpstr> PROJECT TITLE :   Explainable Multilingual Fake News Detection using Contrastive learning and Fact Verification for low resource Languages</vt:lpstr>
      <vt:lpstr>INTRODUCTION</vt:lpstr>
      <vt:lpstr>OBJECTIVE</vt:lpstr>
      <vt:lpstr>PowerPoint Presentation</vt:lpstr>
      <vt:lpstr>PowerPoint Presentation</vt:lpstr>
      <vt:lpstr>PowerPoint Presentation</vt:lpstr>
      <vt:lpstr>RESEARCH GAP</vt:lpstr>
      <vt:lpstr>PROBLEM STATEMENT</vt:lpstr>
      <vt:lpstr>PROPOSED WORK-LIST OF MODULES</vt:lpstr>
      <vt:lpstr>  MODULES 1 TO 6</vt:lpstr>
      <vt:lpstr>MODULE 1 &amp; 2  —  DATASET AND PREPROCESSING</vt:lpstr>
      <vt:lpstr>MODULE 3 &amp; 4  —  FEATURES AND CONTRASTIVE LEARNING</vt:lpstr>
      <vt:lpstr>MODULE 5 &amp; 6  —  CLASSIFICATION AND EVALUATION</vt:lpstr>
      <vt:lpstr>MODULE 6  —  ABLATION AND BEST RESULT</vt:lpstr>
      <vt:lpstr>MODULE 7  —  FACT VERIFICATION</vt:lpstr>
      <vt:lpstr>MODULE 8  —  DECISION FUSION</vt:lpstr>
      <vt:lpstr>MODULE 9  —  EXPLAINABLE AI</vt:lpstr>
      <vt:lpstr>FINAL IMPLEMENTATION STATUS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Dhanush</dc:creator>
  <cp:lastModifiedBy>USER</cp:lastModifiedBy>
  <cp:revision>41</cp:revision>
  <dcterms:created xsi:type="dcterms:W3CDTF">2021-08-13T04:44:07Z</dcterms:created>
  <dcterms:modified xsi:type="dcterms:W3CDTF">2026-10-08T05:55:02Z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2021-08-13T00:00:00Z</vt:filetime>
  </property>
</Properties>
</file>