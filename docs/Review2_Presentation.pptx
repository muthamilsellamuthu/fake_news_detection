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58" r:id="rId4"/>
    <p:sldId id="262" r:id="rId5"/>
    <p:sldId id="273" r:id="rId6"/>
    <p:sldId id="274" r:id="rId7"/>
    <p:sldId id="275" r:id="rId8"/>
    <p:sldId id="276" r:id="rId9"/>
    <p:sldId id="277" r:id="rId10"/>
    <p:sldId id="280" r:id="rId11"/>
    <p:sldId id="281" r:id="rId12"/>
    <p:sldId id="282" r:id="rId13"/>
    <p:sldId id="283" r:id="rId14"/>
    <p:sldId id="284" r:id="rId15"/>
    <p:sldId id="279" r:id="rId16"/>
    <p:sldId id="272" r:id="rId17"/>
  </p:sldIdLst>
  <p:sldSz cx="12192000" cy="6858000"/>
  <p:notesSz cx="12192000" cy="6858000"/>
  <p:embeddedFontLst>
    <p:embeddedFont>
      <p:font typeface="Lustria" panose="020B0604020202020204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jfsMWlVJXIHjAYrzNEkkhYjkPX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0"/>
  </p:normalViewPr>
  <p:slideViewPr>
    <p:cSldViewPr snapToGrid="0">
      <p:cViewPr varScale="1">
        <p:scale>
          <a:sx n="83" d="100"/>
          <a:sy n="83" d="100"/>
        </p:scale>
        <p:origin x="667" y="6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9" name="Google Shape;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7361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0016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>
            <a:spLocks noGrp="1"/>
          </p:cNvSpPr>
          <p:nvPr>
            <p:ph type="title"/>
          </p:nvPr>
        </p:nvSpPr>
        <p:spPr>
          <a:xfrm>
            <a:off x="5078174" y="1000311"/>
            <a:ext cx="203565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0E6EC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body" idx="1"/>
          </p:nvPr>
        </p:nvSpPr>
        <p:spPr>
          <a:xfrm>
            <a:off x="1253767" y="2609333"/>
            <a:ext cx="9684465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D2FE666-B443-47C3-90A0-DB81DE385505}" type="datetime1">
              <a:rPr lang="en-US" smtClean="0"/>
              <a:t>8/29/2026</a:t>
            </a:fld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>
            <a:spLocks noGrp="1"/>
          </p:cNvSpPr>
          <p:nvPr>
            <p:ph type="title"/>
          </p:nvPr>
        </p:nvSpPr>
        <p:spPr>
          <a:xfrm>
            <a:off x="5078174" y="1000311"/>
            <a:ext cx="203565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0E6EC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C786530-0DEB-4AD5-9C05-FA78E1802E93}" type="datetime1">
              <a:rPr lang="en-US" smtClean="0"/>
              <a:t>8/29/2026</a:t>
            </a:fld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A9B7C61-AB4F-4E70-BA2C-AB6D0469CDD1}" type="datetime1">
              <a:rPr lang="en-US" smtClean="0"/>
              <a:t>8/29/2026</a:t>
            </a:fld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898BA48-C4BE-49C6-AF3F-97B5F244A32C}" type="datetime1">
              <a:rPr lang="en-US" smtClean="0"/>
              <a:t>8/29/2026</a:t>
            </a:fld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5078174" y="1000311"/>
            <a:ext cx="203565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0E6EC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283255F-E621-46B9-9CBC-F25A9907172D}" type="datetime1">
              <a:rPr lang="en-US" smtClean="0"/>
              <a:t>8/29/2026</a:t>
            </a:fld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0"/>
            <a:ext cx="12191975" cy="685798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8"/>
          <p:cNvSpPr txBox="1">
            <a:spLocks noGrp="1"/>
          </p:cNvSpPr>
          <p:nvPr>
            <p:ph type="title"/>
          </p:nvPr>
        </p:nvSpPr>
        <p:spPr>
          <a:xfrm>
            <a:off x="5078174" y="1000311"/>
            <a:ext cx="203565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E6EC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body" idx="1"/>
          </p:nvPr>
        </p:nvSpPr>
        <p:spPr>
          <a:xfrm>
            <a:off x="1253767" y="2609333"/>
            <a:ext cx="9684465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C74C6FC1-AF74-4A54-B022-FF4C21A15813}" type="datetime1">
              <a:rPr lang="en-US" smtClean="0"/>
              <a:t>8/29/2026</a:t>
            </a:fld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/>
          <p:nvPr/>
        </p:nvSpPr>
        <p:spPr>
          <a:xfrm>
            <a:off x="0" y="-1157468"/>
            <a:ext cx="12192000" cy="802668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9" name="Google Shape;49;p1"/>
          <p:cNvSpPr txBox="1">
            <a:spLocks noGrp="1"/>
          </p:cNvSpPr>
          <p:nvPr>
            <p:ph type="title"/>
          </p:nvPr>
        </p:nvSpPr>
        <p:spPr>
          <a:xfrm>
            <a:off x="2644878" y="2075705"/>
            <a:ext cx="9360310" cy="1859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8255" marR="5080" lvl="0" indent="-1266190"/>
            <a:r>
              <a:rPr lang="en-US" sz="3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TITLE :  </a:t>
            </a:r>
            <a:r>
              <a:rPr lang="en-US" sz="3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3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Multilingual Fake News Detection using Contrastive learning and Fact Verification for low resource Languages</a:t>
            </a:r>
            <a:endParaRPr sz="30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0" name="Google Shape;50;p1"/>
          <p:cNvGrpSpPr/>
          <p:nvPr/>
        </p:nvGrpSpPr>
        <p:grpSpPr>
          <a:xfrm>
            <a:off x="240388" y="514260"/>
            <a:ext cx="1819586" cy="5686607"/>
            <a:chOff x="63499" y="63499"/>
            <a:chExt cx="1838321" cy="5953113"/>
          </a:xfrm>
        </p:grpSpPr>
        <p:sp>
          <p:nvSpPr>
            <p:cNvPr id="51" name="Google Shape;51;p1"/>
            <p:cNvSpPr/>
            <p:nvPr/>
          </p:nvSpPr>
          <p:spPr>
            <a:xfrm>
              <a:off x="63499" y="63499"/>
              <a:ext cx="1585909" cy="131762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265111" y="4222741"/>
              <a:ext cx="1636709" cy="179387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53" name="Google Shape;53;p1"/>
          <p:cNvSpPr txBox="1"/>
          <p:nvPr/>
        </p:nvSpPr>
        <p:spPr>
          <a:xfrm>
            <a:off x="8315869" y="4767996"/>
            <a:ext cx="3436186" cy="167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KAVIN RITHIK S – 23CDR071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MUTHAMIL S - 23CDR104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NIRANJANA Y -23CDR11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4659047" y="1044013"/>
            <a:ext cx="549148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Design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3500284" y="274081"/>
            <a:ext cx="6402068" cy="100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KONGU ENGINEERING COLLEGE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b="1" i="0" u="none" strike="noStrike" cap="none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321"/>
              </a:buClr>
              <a:buSzPts val="1200"/>
              <a:buFont typeface="Times New Roman"/>
              <a:buNone/>
            </a:pPr>
            <a:r>
              <a:rPr lang="en-US" sz="1200" b="1" i="0" u="none" strike="noStrike" cap="none" dirty="0">
                <a:solidFill>
                  <a:srgbClr val="5463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PERUNDURAI ERODE-638060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3559040" y="1373043"/>
            <a:ext cx="742372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Times New Roman"/>
              <a:buNone/>
            </a:pP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22CDP7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PROJECT WORK II PHASE 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Date Placeholder 1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7118641-BF5E-4B2F-9E81-316F1C9CB3B6}" type="datetime1">
              <a:rPr lang="en-US" smtClean="0"/>
              <a:t>8/29/2026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874501" y="4098814"/>
            <a:ext cx="2167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   01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09398" y="4767996"/>
            <a:ext cx="31804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lvl="0">
              <a:buSzPts val="2000"/>
            </a:pPr>
            <a:r>
              <a:rPr lang="en-US" sz="18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</a:t>
            </a:r>
            <a:r>
              <a:rPr lang="en-US" sz="18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12700" lvl="0">
              <a:buSzPts val="200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DR.R.THANGARAJAN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>
            <a:spLocks noGrp="1"/>
          </p:cNvSpPr>
          <p:nvPr>
            <p:ph type="title"/>
          </p:nvPr>
        </p:nvSpPr>
        <p:spPr>
          <a:xfrm>
            <a:off x="4770561" y="677475"/>
            <a:ext cx="325971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8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034D1FA-9D2B-43A1-99F7-E2E9E3C8612B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150375" y="2180278"/>
            <a:ext cx="10825316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spreads faster than it can be manually verified, and most detection research targets high-resource languages such as English.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 is low-resource: in this project's corpus it accounts for 5,408 of 69,008 records, only 7.8% of the data.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bilingual Tamil-English corpus of 69,008 labelled news records has been built from four public sources.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XLM-RoBERTa represents both languages in one shared 768-dimensional space, so a single model handles Tamil and English.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contrastive learning links same-label articles across languages, allowing Tamil to learn from the larger English pool</a:t>
            </a: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>
            <a:spLocks noGrp="1"/>
          </p:cNvSpPr>
          <p:nvPr>
            <p:ph type="title"/>
          </p:nvPr>
        </p:nvSpPr>
        <p:spPr>
          <a:xfrm>
            <a:off x="4969328" y="501956"/>
            <a:ext cx="225334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28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A6C685-191A-4F4C-8FB1-CE6F03E36E18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 flipH="1">
            <a:off x="1753123" y="1910443"/>
            <a:ext cx="9720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299049" y="1394024"/>
            <a:ext cx="106286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labelled Tamil-English fake news corpus with recorded source provenance and leakage-controlled splits.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represent both languages in one shared space using XLM-RoBERTa with mean pooling and L2 normalisation.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strengthen the representation using supervised contrastive learning, so the minority language benefits from the majority language.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each article as fake or real using an MLP classifier trained on the learned representation.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accuracy, precision, recall, macro-F1 and ROC-AUC, reported overall and separately for Tamil and English.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extend the framework with fact verification and explainability in the remaining modules.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/>
          <p:nvPr/>
        </p:nvSpPr>
        <p:spPr>
          <a:xfrm>
            <a:off x="3917859" y="356419"/>
            <a:ext cx="41347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800" b="1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C9352CA-77FE-4F8B-B28C-C5206F1437C4}" type="datetime1">
              <a:rPr lang="en-US" smtClean="0"/>
              <a:t>8/29/2026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C93871-3EC9-F326-DCB3-B05369D59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775039"/>
              </p:ext>
            </p:extLst>
          </p:nvPr>
        </p:nvGraphicFramePr>
        <p:xfrm>
          <a:off x="1366684" y="879599"/>
          <a:ext cx="9792930" cy="545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83">
                  <a:extLst>
                    <a:ext uri="{9D8B030D-6E8A-4147-A177-3AD203B41FA5}">
                      <a16:colId xmlns:a16="http://schemas.microsoft.com/office/drawing/2014/main" val="256320066"/>
                    </a:ext>
                  </a:extLst>
                </a:gridCol>
                <a:gridCol w="3222589">
                  <a:extLst>
                    <a:ext uri="{9D8B030D-6E8A-4147-A177-3AD203B41FA5}">
                      <a16:colId xmlns:a16="http://schemas.microsoft.com/office/drawing/2014/main" val="762293683"/>
                    </a:ext>
                  </a:extLst>
                </a:gridCol>
                <a:gridCol w="1864196">
                  <a:extLst>
                    <a:ext uri="{9D8B030D-6E8A-4147-A177-3AD203B41FA5}">
                      <a16:colId xmlns:a16="http://schemas.microsoft.com/office/drawing/2014/main" val="2737682077"/>
                    </a:ext>
                  </a:extLst>
                </a:gridCol>
                <a:gridCol w="2052976">
                  <a:extLst>
                    <a:ext uri="{9D8B030D-6E8A-4147-A177-3AD203B41FA5}">
                      <a16:colId xmlns:a16="http://schemas.microsoft.com/office/drawing/2014/main" val="353085198"/>
                    </a:ext>
                  </a:extLst>
                </a:gridCol>
                <a:gridCol w="1958586">
                  <a:extLst>
                    <a:ext uri="{9D8B030D-6E8A-4147-A177-3AD203B41FA5}">
                      <a16:colId xmlns:a16="http://schemas.microsoft.com/office/drawing/2014/main" val="19836953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 OF THE PROJECT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AUTHOR/JOURNAL/YEAR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PROPOSED 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WORK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210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Explainable multi-granularity attribution reasoning framework for fake news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Wei Ji, Hongzhen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Lv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25 March 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EMAR-FND</a:t>
                      </a:r>
                    </a:p>
                    <a:p>
                      <a:r>
                        <a:rPr lang="en-IN" dirty="0"/>
                        <a:t>deep learning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Extend the model to support multiple languages.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506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 simple contrastive embedding framework for low-resource fake news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Iftitahu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Ni’mah</a:t>
                      </a:r>
                      <a:r>
                        <a:rPr lang="en-IN" dirty="0"/>
                        <a:t>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05 August 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Contrast-BERT (Contrastive Learning) Stacking-based Ensemble Learning Ensemble of Multilayer </a:t>
                      </a:r>
                      <a:r>
                        <a:rPr lang="en-IN" dirty="0" err="1"/>
                        <a:t>Perceptrons</a:t>
                      </a:r>
                      <a:r>
                        <a:rPr lang="en-IN" dirty="0"/>
                        <a:t> (MLPs)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 multilingual support. Integrate images and videos (multimodal detection).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653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Multi-modal fake news detection: A comprehensive survey on deep learning technology, advances, and challenges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Li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Li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/ </a:t>
                      </a:r>
                    </a:p>
                    <a:p>
                      <a:r>
                        <a:rPr lang="en-IN" dirty="0"/>
                        <a:t>10 November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hybrid multimodal fusion models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Build better multimodal datasets. Improve cross-modal semantic understanding.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372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 semi supervised fake news detection model using the grasshopper optimization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Ali Ghaffari/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19 February 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Grasshopper Optimization Algorithm (GOA)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 explainable AI features.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206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Early detection of fake news by integrating global structure and publisher credibility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Yantuan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Xian/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22 August 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Bidirectional Graph Convolutional Network (Bi-GCN)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Apply causal reasoning to identify manipulated news propagation patterns</a:t>
                      </a:r>
                      <a:r>
                        <a:rPr lang="en-IN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66192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EF73AF-F01E-FF6A-81B4-39C29F351EE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A9B7C61-AB4F-4E70-BA2C-AB6D0469CDD1}" type="datetime1">
              <a:rPr lang="en-US" smtClean="0"/>
              <a:t>8/29/2026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B8BC9-453A-907F-C417-7CB63F5AC8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97771E-1635-F174-AF64-5A62D5092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881829"/>
              </p:ext>
            </p:extLst>
          </p:nvPr>
        </p:nvGraphicFramePr>
        <p:xfrm>
          <a:off x="1337188" y="719666"/>
          <a:ext cx="10176390" cy="588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782">
                  <a:extLst>
                    <a:ext uri="{9D8B030D-6E8A-4147-A177-3AD203B41FA5}">
                      <a16:colId xmlns:a16="http://schemas.microsoft.com/office/drawing/2014/main" val="2115659363"/>
                    </a:ext>
                  </a:extLst>
                </a:gridCol>
                <a:gridCol w="3364774">
                  <a:extLst>
                    <a:ext uri="{9D8B030D-6E8A-4147-A177-3AD203B41FA5}">
                      <a16:colId xmlns:a16="http://schemas.microsoft.com/office/drawing/2014/main" val="384389267"/>
                    </a:ext>
                  </a:extLst>
                </a:gridCol>
                <a:gridCol w="1887791">
                  <a:extLst>
                    <a:ext uri="{9D8B030D-6E8A-4147-A177-3AD203B41FA5}">
                      <a16:colId xmlns:a16="http://schemas.microsoft.com/office/drawing/2014/main" val="3682945820"/>
                    </a:ext>
                  </a:extLst>
                </a:gridCol>
                <a:gridCol w="2182765">
                  <a:extLst>
                    <a:ext uri="{9D8B030D-6E8A-4147-A177-3AD203B41FA5}">
                      <a16:colId xmlns:a16="http://schemas.microsoft.com/office/drawing/2014/main" val="2683758998"/>
                    </a:ext>
                  </a:extLst>
                </a:gridCol>
                <a:gridCol w="2035278">
                  <a:extLst>
                    <a:ext uri="{9D8B030D-6E8A-4147-A177-3AD203B41FA5}">
                      <a16:colId xmlns:a16="http://schemas.microsoft.com/office/drawing/2014/main" val="1563738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TITLE OF THE PROJECT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AUTHOR/JOURNAL/YEAR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PROPOSED MODEL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FUTURE WORK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474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BiLSTM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-LIME: integrating NLP and advanced machine learning models for fake news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Md. Jakir Hossen/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17 January 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BiLSTM</a:t>
                      </a:r>
                      <a:r>
                        <a:rPr lang="en-IN" dirty="0"/>
                        <a:t>-LIME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Improve detection for low-resource languages.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5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Fake news detection with GAN-augmented contrastive learning and multimodal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Cong Wu 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13 April 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Multi-layer joint attention for text-image fusion GAN-based adversarial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Improve generalization to unseen events.</a:t>
                      </a:r>
                    </a:p>
                    <a:p>
                      <a:r>
                        <a:rPr lang="en-IN" dirty="0"/>
                        <a:t>Add explainable AI features.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970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Multimodal based Amharic fake news detection using CNN and attention-based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BiLSTM</a:t>
                      </a:r>
                      <a:endParaRPr lang="en-IN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Alemu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Desu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Geto or Eshete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Derb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Emiru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02 October 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CNN with Attention-based </a:t>
                      </a:r>
                      <a:r>
                        <a:rPr lang="en-IN" b="0" dirty="0" err="1"/>
                        <a:t>BiLSTM</a:t>
                      </a:r>
                      <a:r>
                        <a:rPr lang="en-IN" b="0" dirty="0"/>
                        <a:t> </a:t>
                      </a:r>
                      <a:r>
                        <a:rPr lang="en-IN" b="0" dirty="0" err="1"/>
                        <a:t>FastText</a:t>
                      </a:r>
                      <a:r>
                        <a:rPr lang="en-IN" b="0" dirty="0"/>
                        <a:t> embeddings for Amharic text.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 image captioning. Expand and enrich datasets.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913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Hybrid optimization driven fake news detection using reinforced transformer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Koteswararao Ch 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28 April 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Modified Transformer (mT5-based) with three-stage fine-tuning. PSODO </a:t>
                      </a:r>
                      <a:r>
                        <a:rPr lang="en-IN" dirty="0"/>
                        <a:t>(Particle Swarm Optimization + Dandelion Optimization) for model optimization.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Integrate explainable AI (SHAP/LIME).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654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Fusing non-textual cues with classical NLP for enhanced multimodal fake news spread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Jing Dang 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09 April 2026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Multi-Modal Deep Learning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 temporal </a:t>
                      </a:r>
                      <a:r>
                        <a:rPr lang="en-IN" dirty="0" err="1"/>
                        <a:t>modeling</a:t>
                      </a:r>
                      <a:r>
                        <a:rPr lang="en-IN" dirty="0"/>
                        <a:t> and explainable AI. Extend to image, video, and audio analysis.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502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7705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437FB-D16C-A7E1-B11C-80BEE38F0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5D32DC-5024-C27D-76F1-CCA5C05E6DC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A9B7C61-AB4F-4E70-BA2C-AB6D0469CDD1}" type="datetime1">
              <a:rPr lang="en-US" smtClean="0"/>
              <a:t>8/29/2026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A87167-B465-F250-C118-7C1C7359F9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6CBB17-E968-1A8E-89B4-73AE689DF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271358"/>
              </p:ext>
            </p:extLst>
          </p:nvPr>
        </p:nvGraphicFramePr>
        <p:xfrm>
          <a:off x="1415845" y="335280"/>
          <a:ext cx="10392697" cy="60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542">
                  <a:extLst>
                    <a:ext uri="{9D8B030D-6E8A-4147-A177-3AD203B41FA5}">
                      <a16:colId xmlns:a16="http://schemas.microsoft.com/office/drawing/2014/main" val="2092263353"/>
                    </a:ext>
                  </a:extLst>
                </a:gridCol>
                <a:gridCol w="3491537">
                  <a:extLst>
                    <a:ext uri="{9D8B030D-6E8A-4147-A177-3AD203B41FA5}">
                      <a16:colId xmlns:a16="http://schemas.microsoft.com/office/drawing/2014/main" val="3244501346"/>
                    </a:ext>
                  </a:extLst>
                </a:gridCol>
                <a:gridCol w="1914712">
                  <a:extLst>
                    <a:ext uri="{9D8B030D-6E8A-4147-A177-3AD203B41FA5}">
                      <a16:colId xmlns:a16="http://schemas.microsoft.com/office/drawing/2014/main" val="670021671"/>
                    </a:ext>
                  </a:extLst>
                </a:gridCol>
                <a:gridCol w="2242367">
                  <a:extLst>
                    <a:ext uri="{9D8B030D-6E8A-4147-A177-3AD203B41FA5}">
                      <a16:colId xmlns:a16="http://schemas.microsoft.com/office/drawing/2014/main" val="2782173524"/>
                    </a:ext>
                  </a:extLst>
                </a:gridCol>
                <a:gridCol w="2078539">
                  <a:extLst>
                    <a:ext uri="{9D8B030D-6E8A-4147-A177-3AD203B41FA5}">
                      <a16:colId xmlns:a16="http://schemas.microsoft.com/office/drawing/2014/main" val="39534966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TITLE OF THE PROJECT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AUTHOR/JOURNAL/YEAR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PROPOSED MODEL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FUTURE WORK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309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Transfer learning driven fake news detection and classification using large language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Deema Mohammed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Alsekait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05 August 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b="0" dirty="0"/>
                        <a:t>Multi-Stage Transfer Learning Framework Uses: </a:t>
                      </a:r>
                      <a:r>
                        <a:rPr lang="en-IN" b="0" dirty="0" err="1"/>
                        <a:t>RoBERTa</a:t>
                      </a:r>
                      <a:r>
                        <a:rPr lang="en-IN" b="0" dirty="0"/>
                        <a:t> as the pre-trained language model.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Enable early fake news prediction without relying on comments.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537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Addressing data scarcity in multilingual fake news detection: an LLM-based dataset augmentation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Razieh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Chalehchaleh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28 August 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LLM-based Data Augmentation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Improve synthetic data quality. Optimize augmentation rates and strategies.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500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 hybrid deep learning framework for fake news detection using LSTM-CGPNN and metaheuristic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ramesh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kumar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ayyasamy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/</a:t>
                      </a:r>
                    </a:p>
                    <a:p>
                      <a:r>
                        <a:rPr lang="en-IN" dirty="0"/>
                        <a:t>24 November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Hybrid Deep Learning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Model temporal evolution of fake news. Integrate SHAP, LIME, and attention visualization for explainability.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239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 sophisticated feature vectorization-based stacked machine learning approach for fake news detection in Bangla and 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Anichur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Rahman,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Hezerul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Abdul Karim or Abu Saleh Musa Miah 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31 December 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TF-IDF + Stacked Ensemble Machine Learning Model Uses: TF-IDF for feature extraction. </a:t>
                      </a:r>
                    </a:p>
                    <a:p>
                      <a:r>
                        <a:rPr lang="en-IN" b="0" dirty="0"/>
                        <a:t>SMOTE for class balancing.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Use advanced models such as BERT, </a:t>
                      </a:r>
                      <a:r>
                        <a:rPr lang="en-IN" b="0" dirty="0" err="1"/>
                        <a:t>BanglaBERT</a:t>
                      </a:r>
                      <a:r>
                        <a:rPr lang="en-IN" b="0" dirty="0"/>
                        <a:t>, </a:t>
                      </a:r>
                      <a:r>
                        <a:rPr lang="en-IN" b="0" dirty="0" err="1"/>
                        <a:t>RoBERTa</a:t>
                      </a:r>
                      <a:r>
                        <a:rPr lang="en-IN" b="0" dirty="0"/>
                        <a:t>, GPT, </a:t>
                      </a:r>
                      <a:r>
                        <a:rPr lang="en-IN" b="0" dirty="0" err="1"/>
                        <a:t>DistilBERT</a:t>
                      </a:r>
                      <a:r>
                        <a:rPr lang="en-IN" b="0" dirty="0"/>
                        <a:t>, and ALBERT.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803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Leveraging data analytics for detection and impact evaluation of fake news and deepfakes in social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Yu-wang Chen /</a:t>
                      </a:r>
                    </a:p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08 July 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Hybrid Fake News and Deepfake Detection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Improve fake news and deepfake detection accuracy.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655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5025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0869" y="406753"/>
            <a:ext cx="3392058" cy="430887"/>
          </a:xfrm>
        </p:spPr>
        <p:txBody>
          <a:bodyPr/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786530-0DEB-4AD5-9C05-FA78E1802E93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636293" y="1939461"/>
            <a:ext cx="9946107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Fake news detection research is concentrated on high-resource languages; Tamil has very limited labelled data and few published baselines</a:t>
            </a:r>
            <a:r>
              <a:rPr kumimoji="0" lang="en-US" altLang="en-US" sz="2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Translating Tamil into English before detection loses linguistic nuance and introduces translation error.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kumimoji="0" lang="en-US" altLang="en-US" sz="2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models report only a label and do not check the claim against any external evidence.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are black-box; they do not show which parts of an article influenced the decision.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single framework combines multilingual support, contrastive representation learning, fact verification and explainability.</a:t>
            </a:r>
          </a:p>
        </p:txBody>
      </p:sp>
    </p:spTree>
    <p:extLst>
      <p:ext uri="{BB962C8B-B14F-4D97-AF65-F5344CB8AC3E}">
        <p14:creationId xmlns:p14="http://schemas.microsoft.com/office/powerpoint/2010/main" val="104107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1689" y="406753"/>
            <a:ext cx="5204815" cy="49244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786530-0DEB-4AD5-9C05-FA78E1802E9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715490" y="2373746"/>
            <a:ext cx="75184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unified framework that detects fake news accurately in both Tamil and English while remaining evidence-grounded and explainable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This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builds a Tamil-English framework that represents both languages in one XLM-RoBERTa space, applies supervised contrastive learning so the minority language benefits from the majority, and classifies each article as fake or real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677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5917" y="422795"/>
            <a:ext cx="8133346" cy="507647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WORK-LIST OF MODULES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786530-0DEB-4AD5-9C05-FA78E1802E9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51560" y="804671"/>
            <a:ext cx="4892040" cy="256032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200" b="1" i="0">
                <a:solidFill>
                  <a:srgbClr val="1E6E3C"/>
                </a:solidFill>
                <a:latin typeface="Times New Roman"/>
              </a:rPr>
              <a:t>IMPLEMENTED  —  MODULES 1 to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804671"/>
            <a:ext cx="4892040" cy="256032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200" b="1" i="0">
                <a:solidFill>
                  <a:srgbClr val="606678"/>
                </a:solidFill>
                <a:latin typeface="Times New Roman"/>
              </a:rPr>
              <a:t>REMAINING  —  MODULES 7 to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078992"/>
            <a:ext cx="4892040" cy="65836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2144" y="1225295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500" b="1" i="0">
                <a:solidFill>
                  <a:srgbClr val="1E2761"/>
                </a:solidFill>
                <a:latin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1124712"/>
            <a:ext cx="4169663" cy="2743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Dataset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064" y="1380744"/>
            <a:ext cx="4169663" cy="29260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Times New Roman"/>
              </a:rPr>
              <a:t>Tamil and English public news sources</a:t>
            </a:r>
          </a:p>
        </p:txBody>
      </p:sp>
      <p:sp>
        <p:nvSpPr>
          <p:cNvPr id="11" name="Isosceles Triangle 10"/>
          <p:cNvSpPr/>
          <p:nvPr/>
        </p:nvSpPr>
        <p:spPr>
          <a:xfrm rot="10800000">
            <a:off x="3396996" y="1746504"/>
            <a:ext cx="201168" cy="146304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1560" y="1879091"/>
            <a:ext cx="4892040" cy="65836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52144" y="2025395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500" b="1" i="0">
                <a:solidFill>
                  <a:srgbClr val="1E2761"/>
                </a:solidFill>
                <a:latin typeface="Times New Roma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1924811"/>
            <a:ext cx="4169663" cy="2743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Data 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" y="2180844"/>
            <a:ext cx="4169663" cy="29260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Times New Roman"/>
              </a:rPr>
              <a:t>Clean · de-duplicate · encode · stratified split</a:t>
            </a:r>
          </a:p>
        </p:txBody>
      </p:sp>
      <p:sp>
        <p:nvSpPr>
          <p:cNvPr id="16" name="Isosceles Triangle 15"/>
          <p:cNvSpPr/>
          <p:nvPr/>
        </p:nvSpPr>
        <p:spPr>
          <a:xfrm rot="10800000">
            <a:off x="3396996" y="2546603"/>
            <a:ext cx="201168" cy="146304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1560" y="2679191"/>
            <a:ext cx="4892040" cy="65836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52144" y="2825496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500" b="1" i="0">
                <a:solidFill>
                  <a:srgbClr val="1E2761"/>
                </a:solidFill>
                <a:latin typeface="Times New Roma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5064" y="2724911"/>
            <a:ext cx="4169663" cy="2743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Feature 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5064" y="2980944"/>
            <a:ext cx="4169663" cy="29260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Times New Roman"/>
              </a:rPr>
              <a:t>XLM-RoBERTa → 768-d contextual embeddings</a:t>
            </a:r>
          </a:p>
        </p:txBody>
      </p:sp>
      <p:sp>
        <p:nvSpPr>
          <p:cNvPr id="21" name="Isosceles Triangle 20"/>
          <p:cNvSpPr/>
          <p:nvPr/>
        </p:nvSpPr>
        <p:spPr>
          <a:xfrm rot="10800000">
            <a:off x="3396996" y="3346703"/>
            <a:ext cx="201168" cy="146304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1560" y="3479291"/>
            <a:ext cx="4892040" cy="65836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52144" y="3625596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500" b="1" i="0">
                <a:solidFill>
                  <a:srgbClr val="1E2761"/>
                </a:solidFill>
                <a:latin typeface="Times New Roman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55064" y="3525011"/>
            <a:ext cx="4169663" cy="2743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Contrastive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5064" y="3781044"/>
            <a:ext cx="4169663" cy="29260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Times New Roman"/>
              </a:rPr>
              <a:t>Supervised contrastive representation learning</a:t>
            </a:r>
          </a:p>
        </p:txBody>
      </p:sp>
      <p:sp>
        <p:nvSpPr>
          <p:cNvPr id="26" name="Isosceles Triangle 25"/>
          <p:cNvSpPr/>
          <p:nvPr/>
        </p:nvSpPr>
        <p:spPr>
          <a:xfrm rot="10800000">
            <a:off x="3396996" y="4146803"/>
            <a:ext cx="201168" cy="146304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1560" y="4279392"/>
            <a:ext cx="4892040" cy="65836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52144" y="4425696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500" b="1" i="0">
                <a:solidFill>
                  <a:srgbClr val="1E2761"/>
                </a:solidFill>
                <a:latin typeface="Times New Roman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5064" y="4325112"/>
            <a:ext cx="4169663" cy="2743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Classification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55064" y="4581144"/>
            <a:ext cx="4169663" cy="29260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Times New Roman"/>
              </a:rPr>
              <a:t>MLP classifier → Fake / Real</a:t>
            </a:r>
          </a:p>
        </p:txBody>
      </p:sp>
      <p:sp>
        <p:nvSpPr>
          <p:cNvPr id="31" name="Isosceles Triangle 30"/>
          <p:cNvSpPr/>
          <p:nvPr/>
        </p:nvSpPr>
        <p:spPr>
          <a:xfrm rot="10800000">
            <a:off x="3396996" y="4946903"/>
            <a:ext cx="201168" cy="146304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1560" y="5079492"/>
            <a:ext cx="4892040" cy="65836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52144" y="5225796"/>
            <a:ext cx="365760" cy="3657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500" b="1" i="0">
                <a:solidFill>
                  <a:srgbClr val="1E2761"/>
                </a:solidFill>
                <a:latin typeface="Times New Roman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55064" y="5125212"/>
            <a:ext cx="4169663" cy="2743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Model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55064" y="5381244"/>
            <a:ext cx="4169663" cy="29260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Times New Roman"/>
              </a:rPr>
              <a:t>Accuracy · Macro-F1 · ROC-AUC · per language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1078992"/>
            <a:ext cx="48920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AA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775704" y="1225295"/>
            <a:ext cx="365760" cy="36576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8624" y="1124712"/>
            <a:ext cx="4169663" cy="2743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Times New Roman"/>
              </a:rPr>
              <a:t>Fact Verification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8624" y="1380744"/>
            <a:ext cx="4169663" cy="29260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>
                <a:solidFill>
                  <a:srgbClr val="606678"/>
                </a:solidFill>
                <a:latin typeface="Times New Roman"/>
              </a:rPr>
              <a:t>Retrieve evidence and verify the claim</a:t>
            </a:r>
          </a:p>
        </p:txBody>
      </p:sp>
      <p:sp>
        <p:nvSpPr>
          <p:cNvPr id="40" name="Isosceles Triangle 39"/>
          <p:cNvSpPr/>
          <p:nvPr/>
        </p:nvSpPr>
        <p:spPr>
          <a:xfrm rot="10800000">
            <a:off x="9020556" y="1746504"/>
            <a:ext cx="201168" cy="146304"/>
          </a:xfrm>
          <a:prstGeom prst="triangle">
            <a:avLst/>
          </a:prstGeom>
          <a:solidFill>
            <a:srgbClr val="9AA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675120" y="1879091"/>
            <a:ext cx="48920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AA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775704" y="2025395"/>
            <a:ext cx="365760" cy="36576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78624" y="1924811"/>
            <a:ext cx="4169663" cy="2743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Times New Roman"/>
              </a:rPr>
              <a:t>Decision Fusion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78624" y="2180844"/>
            <a:ext cx="4169663" cy="29260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>
                <a:solidFill>
                  <a:srgbClr val="606678"/>
                </a:solidFill>
                <a:latin typeface="Times New Roman"/>
              </a:rPr>
              <a:t>Combine classifier and verifier outputs</a:t>
            </a:r>
          </a:p>
        </p:txBody>
      </p:sp>
      <p:sp>
        <p:nvSpPr>
          <p:cNvPr id="45" name="Isosceles Triangle 44"/>
          <p:cNvSpPr/>
          <p:nvPr/>
        </p:nvSpPr>
        <p:spPr>
          <a:xfrm rot="10800000">
            <a:off x="9020556" y="2546603"/>
            <a:ext cx="201168" cy="146304"/>
          </a:xfrm>
          <a:prstGeom prst="triangle">
            <a:avLst/>
          </a:prstGeom>
          <a:solidFill>
            <a:srgbClr val="9AA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675120" y="2679191"/>
            <a:ext cx="48920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AA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775704" y="2825496"/>
            <a:ext cx="365760" cy="36576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78624" y="2724911"/>
            <a:ext cx="4169663" cy="2743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Times New Roman"/>
              </a:rPr>
              <a:t>Explainable 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78624" y="2980944"/>
            <a:ext cx="4169663" cy="29260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>
                <a:solidFill>
                  <a:srgbClr val="606678"/>
                </a:solidFill>
                <a:latin typeface="Times New Roman"/>
              </a:rPr>
              <a:t>Token-level attribution for the prediction</a:t>
            </a:r>
          </a:p>
        </p:txBody>
      </p:sp>
      <p:sp>
        <p:nvSpPr>
          <p:cNvPr id="50" name="Isosceles Triangle 49"/>
          <p:cNvSpPr/>
          <p:nvPr/>
        </p:nvSpPr>
        <p:spPr>
          <a:xfrm rot="10800000">
            <a:off x="9020556" y="3346703"/>
            <a:ext cx="201168" cy="146304"/>
          </a:xfrm>
          <a:prstGeom prst="triangle">
            <a:avLst/>
          </a:prstGeom>
          <a:solidFill>
            <a:srgbClr val="9AA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675120" y="3479291"/>
            <a:ext cx="48920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AA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775704" y="3598163"/>
            <a:ext cx="420624" cy="420624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8624" y="3525011"/>
            <a:ext cx="4169663" cy="2743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Times New Roman"/>
              </a:rPr>
              <a:t>Application &amp; Demo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78624" y="3781044"/>
            <a:ext cx="4169663" cy="29260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>
                <a:solidFill>
                  <a:srgbClr val="606678"/>
                </a:solidFill>
                <a:latin typeface="Times New Roman"/>
              </a:rPr>
              <a:t>Web interface for end-to-end verification</a:t>
            </a:r>
          </a:p>
        </p:txBody>
      </p:sp>
      <p:sp>
        <p:nvSpPr>
          <p:cNvPr id="55" name="Up Arrow 54"/>
          <p:cNvSpPr/>
          <p:nvPr/>
        </p:nvSpPr>
        <p:spPr>
          <a:xfrm>
            <a:off x="8974836" y="4389120"/>
            <a:ext cx="292608" cy="292608"/>
          </a:xfrm>
          <a:prstGeom prst="upArrow">
            <a:avLst/>
          </a:prstGeom>
          <a:solidFill>
            <a:srgbClr val="1E6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6675120" y="4792195"/>
            <a:ext cx="4892040" cy="585216"/>
          </a:xfrm>
          <a:prstGeom prst="roundRect">
            <a:avLst>
              <a:gd name="adj" fmla="val 10000"/>
            </a:avLst>
          </a:prstGeom>
          <a:solidFill>
            <a:srgbClr val="E9EEF9"/>
          </a:solidFill>
          <a:ln w="12700">
            <a:solidFill>
              <a:srgbClr val="9AA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58000" y="4792195"/>
            <a:ext cx="4526279" cy="530352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1150" b="0" i="0" dirty="0">
                <a:solidFill>
                  <a:srgbClr val="606678"/>
                </a:solidFill>
                <a:latin typeface="Times New Roman"/>
              </a:rPr>
              <a:t>The Fake / Real prediction and its probability become the input to fact verification, which supplies evidence to the fusion stage.</a:t>
            </a:r>
          </a:p>
        </p:txBody>
      </p:sp>
    </p:spTree>
    <p:extLst>
      <p:ext uri="{BB962C8B-B14F-4D97-AF65-F5344CB8AC3E}">
        <p14:creationId xmlns:p14="http://schemas.microsoft.com/office/powerpoint/2010/main" val="369023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5683" y="782874"/>
            <a:ext cx="10789920" cy="566928"/>
          </a:xfrm>
        </p:spPr>
        <p:txBody>
          <a:bodyPr/>
          <a:lstStyle/>
          <a:p>
            <a:pPr algn="ctr"/>
            <a:r>
              <a:rPr sz="2400" b="1" dirty="0">
                <a:solidFill>
                  <a:srgbClr val="FF0000"/>
                </a:solidFill>
                <a:latin typeface="Times New Roman"/>
              </a:rPr>
              <a:t>MODULE COMPLETION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940459"/>
              </p:ext>
            </p:extLst>
          </p:nvPr>
        </p:nvGraphicFramePr>
        <p:xfrm>
          <a:off x="2427818" y="1847273"/>
          <a:ext cx="8445650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3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87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Module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Work completed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8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1  Dataset Collection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69,089 records from 4 public Tamil/English sources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8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2  Data Preprocessing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69,008 clean records; stratified 70/15/15 split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8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3  Feature Extraction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138,016 XLM-RoBERTa embeddings (768-d, L2-normalised)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8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4  Contrastive Learning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Supervised contrastive training; 8-configuration ablation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8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5  Classification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MLP classifier trained; configuration selected on validation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87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6  Model Evaluation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Accuracy, precision, recall, macro-F1, ROC-AUC, per language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219456"/>
            <a:ext cx="10789920" cy="566928"/>
          </a:xfrm>
        </p:spPr>
        <p:txBody>
          <a:bodyPr/>
          <a:lstStyle/>
          <a:p>
            <a:pPr algn="ctr"/>
            <a:r>
              <a:rPr sz="2400" b="1">
                <a:solidFill>
                  <a:srgbClr val="FF0000"/>
                </a:solidFill>
                <a:latin typeface="Times New Roman"/>
              </a:rPr>
              <a:t>MODULE 1 &amp; 2  —  DATASET AND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89611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E2761"/>
                </a:solidFill>
                <a:latin typeface="Times New Roman"/>
              </a:rPr>
              <a:t>Module 1 — Dataset Collection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60120" y="1280160"/>
          <a:ext cx="53492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Source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Lang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Real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Fake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WELFake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en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28,882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34,790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63,672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aanirudh_headlines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ta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2,285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2,893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5,178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Daily Thanthi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ta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214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11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225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BOOM Tamil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ta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14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31,383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37,706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69,089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60120" y="3703320"/>
            <a:ext cx="507492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rgbClr val="1A1A1A"/>
                </a:solidFill>
                <a:latin typeface="Times New Roman"/>
              </a:rPr>
              <a:t>English 63,673  ·  Tamil 5,416  (7.8% of corpus)</a:t>
            </a:r>
          </a:p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rgbClr val="1A1A1A"/>
                </a:solidFill>
                <a:latin typeface="Times New Roman"/>
              </a:rPr>
              <a:t>Fake 37,706  ·  Real </a:t>
            </a:r>
            <a:r>
              <a:rPr sz="1600" b="1" i="0" dirty="0" smtClean="0">
                <a:solidFill>
                  <a:srgbClr val="1A1A1A"/>
                </a:solidFill>
                <a:latin typeface="Times New Roman"/>
              </a:rPr>
              <a:t>31,383</a:t>
            </a:r>
            <a:endParaRPr sz="1400" b="0" i="1" dirty="0">
              <a:solidFill>
                <a:srgbClr val="555555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46520" y="8961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E2761"/>
                </a:solidFill>
                <a:latin typeface="Times New Roman"/>
              </a:rPr>
              <a:t>Module 2 — 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28016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Times New Roman"/>
              </a:rPr>
              <a:t>•  514 missing titles repaired → 0 remaining</a:t>
            </a: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Times New Roman"/>
              </a:rPr>
              <a:t>•  70 documents below length floor removed</a:t>
            </a: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Times New Roman"/>
              </a:rPr>
              <a:t>•  11 exact duplicates removed  (69,019 → 69,008)</a:t>
            </a: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Times New Roman"/>
              </a:rPr>
              <a:t>•  Labels encoded 0 = real, 1 = fake  (0 invalid)</a:t>
            </a: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Times New Roman"/>
              </a:rPr>
              <a:t>•  Language verified — 0 mismatches</a:t>
            </a: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Times New Roman"/>
              </a:rPr>
              <a:t>•  Stratified on (language, label), seed 42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3730752"/>
          <a:ext cx="5074920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Split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Records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Share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Train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48,305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70%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Validation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10,351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15%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Test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10,352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15%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46520" y="51389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6E3C"/>
                </a:solidFill>
                <a:latin typeface="Times New Roman"/>
              </a:rPr>
              <a:t>Leakage check passed:  train∩val = train∩test = val∩test =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219456"/>
            <a:ext cx="10789920" cy="566928"/>
          </a:xfrm>
        </p:spPr>
        <p:txBody>
          <a:bodyPr/>
          <a:lstStyle/>
          <a:p>
            <a:pPr algn="ctr"/>
            <a:r>
              <a:rPr sz="2400" b="1">
                <a:solidFill>
                  <a:srgbClr val="FF0000"/>
                </a:solidFill>
                <a:latin typeface="Times New Roman"/>
              </a:rPr>
              <a:t>MODULE 3 &amp; 4  —  FEATURES AND CONTRASTIVE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89611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E2761"/>
                </a:solidFill>
                <a:latin typeface="Times New Roman"/>
              </a:rPr>
              <a:t>Module 3 — XLM-RoBERTa Feature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86560"/>
            <a:ext cx="5074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Times New Roman"/>
              </a:rPr>
              <a:t>1.  Tamil / English text → </a:t>
            </a:r>
            <a:r>
              <a:rPr sz="1500" b="0" i="0" dirty="0" err="1">
                <a:solidFill>
                  <a:srgbClr val="1A1A1A"/>
                </a:solidFill>
                <a:latin typeface="Times New Roman"/>
              </a:rPr>
              <a:t>SentencePiece</a:t>
            </a:r>
            <a:r>
              <a:rPr sz="1500" b="0" i="0" dirty="0">
                <a:solidFill>
                  <a:srgbClr val="1A1A1A"/>
                </a:solidFill>
                <a:latin typeface="Times New Roman"/>
              </a:rPr>
              <a:t> tokenizer</a:t>
            </a: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Times New Roman"/>
              </a:rPr>
              <a:t>2.  </a:t>
            </a:r>
            <a:r>
              <a:rPr sz="1500" b="0" i="0" dirty="0" err="1">
                <a:solidFill>
                  <a:srgbClr val="1A1A1A"/>
                </a:solidFill>
                <a:latin typeface="Times New Roman"/>
              </a:rPr>
              <a:t>xlm</a:t>
            </a:r>
            <a:r>
              <a:rPr sz="1500" b="0" i="0" dirty="0">
                <a:solidFill>
                  <a:srgbClr val="1A1A1A"/>
                </a:solidFill>
                <a:latin typeface="Times New Roman"/>
              </a:rPr>
              <a:t>-</a:t>
            </a:r>
            <a:r>
              <a:rPr sz="1500" b="0" i="0" dirty="0" err="1">
                <a:solidFill>
                  <a:srgbClr val="1A1A1A"/>
                </a:solidFill>
                <a:latin typeface="Times New Roman"/>
              </a:rPr>
              <a:t>roberta</a:t>
            </a:r>
            <a:r>
              <a:rPr sz="1500" b="0" i="0" dirty="0">
                <a:solidFill>
                  <a:srgbClr val="1A1A1A"/>
                </a:solidFill>
                <a:latin typeface="Times New Roman"/>
              </a:rPr>
              <a:t>-base encoder, </a:t>
            </a:r>
            <a:r>
              <a:rPr sz="1500" b="0" i="0" dirty="0" err="1">
                <a:solidFill>
                  <a:srgbClr val="1A1A1A"/>
                </a:solidFill>
                <a:latin typeface="Times New Roman"/>
              </a:rPr>
              <a:t>max_length</a:t>
            </a:r>
            <a:r>
              <a:rPr sz="1500" b="0" i="0" dirty="0">
                <a:solidFill>
                  <a:srgbClr val="1A1A1A"/>
                </a:solidFill>
                <a:latin typeface="Times New Roman"/>
              </a:rPr>
              <a:t> 512</a:t>
            </a: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Times New Roman"/>
              </a:rPr>
              <a:t>3.  Attention-mask weighted mean pooling</a:t>
            </a: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Times New Roman"/>
              </a:rPr>
              <a:t>4.  L2 </a:t>
            </a:r>
            <a:r>
              <a:rPr sz="1500" b="0" i="0" dirty="0" err="1">
                <a:solidFill>
                  <a:srgbClr val="1A1A1A"/>
                </a:solidFill>
                <a:latin typeface="Times New Roman"/>
              </a:rPr>
              <a:t>normalisation</a:t>
            </a:r>
            <a:r>
              <a:rPr sz="1500" b="0" i="0" dirty="0">
                <a:solidFill>
                  <a:srgbClr val="1A1A1A"/>
                </a:solidFill>
                <a:latin typeface="Times New Roman"/>
              </a:rPr>
              <a:t> → 768-d unit vector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60120" y="3520440"/>
          <a:ext cx="5349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Setting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xlm-roberta-base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Embedding dimension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768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Pooling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mean  (and CLS)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Normalisation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L2, unit length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Vectors generated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138,016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46520" y="8961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E2761"/>
                </a:solidFill>
                <a:latin typeface="Times New Roman"/>
              </a:rPr>
              <a:t>Module 4 — Supervised Contrastive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280160"/>
            <a:ext cx="53035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Times New Roman"/>
              </a:rPr>
              <a:t>Positives: same-label articles in the batch, including Tamil–English pairs. Negatives: opposite-label articles</a:t>
            </a:r>
            <a:r>
              <a:rPr sz="1500" b="0" i="0" dirty="0" smtClean="0">
                <a:solidFill>
                  <a:srgbClr val="1A1A1A"/>
                </a:solidFill>
                <a:latin typeface="Times New Roman"/>
              </a:rPr>
              <a:t>.</a:t>
            </a:r>
            <a:endParaRPr sz="1500" b="0" i="0" dirty="0">
              <a:solidFill>
                <a:srgbClr val="1A1A1A"/>
              </a:solidFill>
              <a:latin typeface="Times New Roman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3063240"/>
          <a:ext cx="50749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Parameter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Loss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Supervised contrastive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Temperature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0.07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Optimizer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AdamW,  lr 5 × 10⁻⁴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Batch size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256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Max epochs / run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30 / 13  (early stop)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7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Ablation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2 pooling × 2 samplers × 2 methods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219456"/>
            <a:ext cx="10789920" cy="566928"/>
          </a:xfrm>
        </p:spPr>
        <p:txBody>
          <a:bodyPr/>
          <a:lstStyle/>
          <a:p>
            <a:pPr algn="ctr"/>
            <a:r>
              <a:rPr sz="2400" b="1">
                <a:solidFill>
                  <a:srgbClr val="FF0000"/>
                </a:solidFill>
                <a:latin typeface="Times New Roman"/>
              </a:rPr>
              <a:t>MODULE 5 &amp; 6  —  CLASSIFICATION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877824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Times New Roman"/>
              </a:rPr>
              <a:t>MLP 768→512→128→2  ·  CrossEntropyLoss  ·  AdamW, lr 1×10⁻³  ·  batch 512  ·  50 epochs, early stopping (patience 8) on validation macro-F1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60120" y="1481328"/>
          <a:ext cx="107899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Model / configuration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Macro F1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ROC-AUC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Majority-class baseline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0.5463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0.2732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0.5000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0.3533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0.5000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Logistic regression (CLS)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0.7922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0.7915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0.7881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0.7893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0.8807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Logistic regression (mean)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0.8139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0.8151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0.8088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0.8107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0.8986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SupCon + linear head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0.9686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0.9689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0.9678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0.9683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0.9940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MLP classifier  (selected)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0.9765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0.9769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0.9758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0.9763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0.9969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60120" y="4041648"/>
          <a:ext cx="512064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Language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Macro F1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ROC-AUC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English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9,540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0.9773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0.9770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0.9971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Tamil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811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0.9679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0.9678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0.9951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Picture 7" descr="cm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622" y="3977638"/>
            <a:ext cx="2647142" cy="2256905"/>
          </a:xfrm>
          <a:prstGeom prst="rect">
            <a:avLst/>
          </a:prstGeom>
        </p:spPr>
      </p:pic>
      <p:pic>
        <p:nvPicPr>
          <p:cNvPr id="9" name="Picture 8" descr="cm_tam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764" y="3894511"/>
            <a:ext cx="2615276" cy="23400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219456"/>
            <a:ext cx="10789920" cy="369332"/>
          </a:xfrm>
        </p:spPr>
        <p:txBody>
          <a:bodyPr/>
          <a:lstStyle/>
          <a:p>
            <a:pPr algn="ctr"/>
            <a:r>
              <a:rPr sz="2400" b="1" dirty="0" smtClean="0">
                <a:solidFill>
                  <a:srgbClr val="FF0000"/>
                </a:solidFill>
                <a:latin typeface="Times New Roman"/>
              </a:rPr>
              <a:t>ABLATION </a:t>
            </a:r>
            <a:r>
              <a:rPr sz="2400" b="1" dirty="0">
                <a:solidFill>
                  <a:srgbClr val="FF0000"/>
                </a:solidFill>
                <a:latin typeface="Times New Roman"/>
              </a:rPr>
              <a:t>AND BEST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89611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761"/>
                </a:solidFill>
                <a:latin typeface="Times New Roman"/>
              </a:rPr>
              <a:t>All 8 ablation configurations (validation macro-F1)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60120" y="1280160"/>
          <a:ext cx="54864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Configuration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Macro F1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mean · uniform · CE-MLP   (selected)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0.9763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mean · language-aware · SupCon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0.9736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mean · language-aware · CE-MLP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0.9734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cls · uniform · CE-MLP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0.9713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cls · language-aware · CE-MLP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0.9686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mean · uniform · SupCon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0.9683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cls · uniform · SupCon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0.9661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cls · language-aware · SupCon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0.9594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29400" y="8961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761"/>
                </a:solidFill>
                <a:latin typeface="Times New Roman"/>
              </a:rPr>
              <a:t>Best result achieved so far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29400" y="1280160"/>
          <a:ext cx="49834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0.9765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Precision (macro)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0.9769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Recall (macro)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0.9758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Macro F1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</a:rPr>
                        <a:t>0.9763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29400" y="3127248"/>
            <a:ext cx="51206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Times New Roman"/>
              </a:rPr>
              <a:t>Observations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Best model exceeds the strongest classical baseline by +0.1656 macro-F1.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Mean pooling outperformed CLS pooling in every configuration tested.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Contrastive training keeps Tamil within 0.009 macro-F1 of English.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Times New Roman"/>
              </a:rPr>
              <a:t>•  Modules 1–6 complete; remaining modules are in progress.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9863" y="161046"/>
            <a:ext cx="3007047" cy="49244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786530-0DEB-4AD5-9C05-FA78E1802E93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 flipH="1">
            <a:off x="756385" y="931282"/>
            <a:ext cx="1143561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[1] W. Ji and H. </a:t>
            </a:r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Lv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"Explainable multi-granularity attribution reasoning framework for fake news detection," </a:t>
            </a:r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npj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Artificial Intelligence, 2026.</a:t>
            </a:r>
          </a:p>
          <a:p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 I. </a:t>
            </a:r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Ni'mah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"A simple contrastive embedding framework </a:t>
            </a:r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forlow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-resource fake news detection," Neural Computing and Applications, vol. 37, pp. 21407–21433, 2025.</a:t>
            </a:r>
          </a:p>
          <a:p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L. Li et al., "Multi-modal fake news detection: A comprehensive survey  on deep learning technology, advances, and challenges," Journal of King Saud University – Computer and Information Sciences, 2025.</a:t>
            </a:r>
          </a:p>
          <a:p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 A. </a:t>
            </a:r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Ghaffari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"A semi-supervised fake news detection model using the grasshopper optimization algorithm," Discover Artificial Intelligence, 2026.</a:t>
            </a:r>
          </a:p>
          <a:p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[5] Y. Xian et al., "Early detection of fake news by integrating global structure and publisher credibility," Information Processing &amp; Management, 2025.</a:t>
            </a:r>
          </a:p>
          <a:p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[6] H. Hossain, M. Z. Rahman, M. S. Islam, and S. </a:t>
            </a:r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"</a:t>
            </a:r>
            <a:r>
              <a:rPr lang="en-IN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BanFakeNews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 dataset for detecting fake news in Bangla," in Proc. 12th Language Resources and Evaluation Conf. (LREC), Marseille, France, 2020,</a:t>
            </a:r>
          </a:p>
          <a:p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pp. 2862–2871.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Times New Roman"/>
              </a:rPr>
              <a:t>[7] A. Conneau et al., "Unsupervised cross-lingual representation learning at scale," in Proc. Annu. Meeting Assoc. Computational Linguistics (ACL), 2020.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Times New Roman"/>
              </a:rPr>
              <a:t>[8] P. Khosla et al., "Supervised contrastive learning," in Advances in Neural Information Processing Systems (NeurIPS), vol. 33, 2020.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Times New Roman"/>
              </a:rPr>
              <a:t>[9] R. Mirnalinee et al., "A novel dataset for fake news detection in Tamil regional language," in Proc. SPELLL, 2022.</a:t>
            </a:r>
          </a:p>
        </p:txBody>
      </p:sp>
    </p:spTree>
    <p:extLst>
      <p:ext uri="{BB962C8B-B14F-4D97-AF65-F5344CB8AC3E}">
        <p14:creationId xmlns:p14="http://schemas.microsoft.com/office/powerpoint/2010/main" val="392963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 descr="381,992 Thank You Images, Stock Photos &amp; Vectors | Shutterstock"/>
          <p:cNvSpPr/>
          <p:nvPr/>
        </p:nvSpPr>
        <p:spPr>
          <a:xfrm>
            <a:off x="1981200" y="1828800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7" descr="381,992 Thank You Images, Stock Photos &amp; Vectors | Shutterstock"/>
          <p:cNvPicPr preferRelativeResize="0"/>
          <p:nvPr/>
        </p:nvPicPr>
        <p:blipFill rotWithShape="1">
          <a:blip r:embed="rId3">
            <a:alphaModFix/>
          </a:blip>
          <a:srcRect b="5712"/>
          <a:stretch/>
        </p:blipFill>
        <p:spPr>
          <a:xfrm>
            <a:off x="840509" y="0"/>
            <a:ext cx="113514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F4A5BDD-56EF-4D21-9AFD-05BECF54570E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2127</Words>
  <Application>Microsoft Office PowerPoint</Application>
  <PresentationFormat>Widescreen</PresentationFormat>
  <Paragraphs>410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Lustria</vt:lpstr>
      <vt:lpstr>Calibri</vt:lpstr>
      <vt:lpstr>Arial</vt:lpstr>
      <vt:lpstr>Times New Roman</vt:lpstr>
      <vt:lpstr>Office Theme</vt:lpstr>
      <vt:lpstr> PROJECT TITLE :   Explainable Multilingual Fake News Detection using Contrastive learning and Fact Verification for low resource Languages</vt:lpstr>
      <vt:lpstr>INTRODUCTION</vt:lpstr>
      <vt:lpstr>OBJECTIVE</vt:lpstr>
      <vt:lpstr>PowerPoint Presentation</vt:lpstr>
      <vt:lpstr>PowerPoint Presentation</vt:lpstr>
      <vt:lpstr>PowerPoint Presentation</vt:lpstr>
      <vt:lpstr>RESEARCH GAP</vt:lpstr>
      <vt:lpstr>PROBLEM STATEMENT</vt:lpstr>
      <vt:lpstr>PROPOSED WORK-LIST OF MODULES</vt:lpstr>
      <vt:lpstr>MODULE COMPLETION STATUS</vt:lpstr>
      <vt:lpstr>MODULE 1 &amp; 2  —  DATASET AND PREPROCESSING</vt:lpstr>
      <vt:lpstr>MODULE 3 &amp; 4  —  FEATURES AND CONTRASTIVE LEARNING</vt:lpstr>
      <vt:lpstr>MODULE 5 &amp; 6  —  CLASSIFICATION AND EVALUATION</vt:lpstr>
      <vt:lpstr>ABLATION AND BEST RESULT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Dhanush</dc:creator>
  <cp:lastModifiedBy>USER</cp:lastModifiedBy>
  <cp:revision>40</cp:revision>
  <dcterms:created xsi:type="dcterms:W3CDTF">2021-08-13T04:44:07Z</dcterms:created>
  <dcterms:modified xsi:type="dcterms:W3CDTF">2026-08-29T16:01:49Z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2021-08-13T00:00:00Z</vt:filetime>
  </property>
</Properties>
</file>